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19063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7620" y="0"/>
            <a:ext cx="14630400" cy="8229600"/>
          </a:xfrm>
          <a:prstGeom prst="rect">
            <a:avLst/>
          </a:prstGeom>
          <a:solidFill>
            <a:srgbClr val="0D0A2C">
              <a:alpha val="75000"/>
            </a:srgbClr>
          </a:solidFill>
          <a:ln/>
        </p:spPr>
        <p:txBody>
          <a:bodyPr/>
          <a:lstStyle/>
          <a:p>
            <a:endParaRPr lang="en-IN"/>
          </a:p>
        </p:txBody>
      </p:sp>
      <p:pic>
        <p:nvPicPr>
          <p:cNvPr id="4" name="Image 1" descr="preencoded.png"/>
          <p:cNvPicPr>
            <a:picLocks noChangeAspect="1"/>
          </p:cNvPicPr>
          <p:nvPr/>
        </p:nvPicPr>
        <p:blipFill>
          <a:blip r:embed="rId4"/>
          <a:stretch>
            <a:fillRect/>
          </a:stretch>
        </p:blipFill>
        <p:spPr>
          <a:xfrm>
            <a:off x="9151620" y="0"/>
            <a:ext cx="5486400" cy="8229600"/>
          </a:xfrm>
          <a:prstGeom prst="rect">
            <a:avLst/>
          </a:prstGeom>
        </p:spPr>
      </p:pic>
      <p:sp>
        <p:nvSpPr>
          <p:cNvPr id="5" name="Text 1"/>
          <p:cNvSpPr/>
          <p:nvPr/>
        </p:nvSpPr>
        <p:spPr>
          <a:xfrm>
            <a:off x="802481" y="610433"/>
            <a:ext cx="7554278" cy="1828324"/>
          </a:xfrm>
          <a:prstGeom prst="rect">
            <a:avLst/>
          </a:prstGeom>
          <a:noFill/>
          <a:ln/>
        </p:spPr>
        <p:txBody>
          <a:bodyPr wrap="square" rtlCol="0" anchor="t"/>
          <a:lstStyle/>
          <a:p>
            <a:pPr marL="0" indent="0">
              <a:lnSpc>
                <a:spcPts val="7199"/>
              </a:lnSpc>
              <a:buNone/>
            </a:pPr>
            <a:r>
              <a:rPr lang="en-US" sz="5759" dirty="0">
                <a:solidFill>
                  <a:srgbClr val="F2F0F4"/>
                </a:solidFill>
                <a:latin typeface="Montserrat" pitchFamily="34" charset="0"/>
                <a:ea typeface="Montserrat" pitchFamily="34" charset="-122"/>
                <a:cs typeface="Montserrat" pitchFamily="34" charset="-120"/>
              </a:rPr>
              <a:t>The Power of Mobile Price Prediction</a:t>
            </a:r>
            <a:endParaRPr lang="en-US" sz="5759" dirty="0"/>
          </a:p>
        </p:txBody>
      </p:sp>
      <p:sp>
        <p:nvSpPr>
          <p:cNvPr id="6" name="Text 2"/>
          <p:cNvSpPr/>
          <p:nvPr/>
        </p:nvSpPr>
        <p:spPr>
          <a:xfrm>
            <a:off x="794861" y="3635510"/>
            <a:ext cx="7554278" cy="3052882"/>
          </a:xfrm>
          <a:prstGeom prst="rect">
            <a:avLst/>
          </a:prstGeom>
          <a:noFill/>
          <a:ln/>
        </p:spPr>
        <p:txBody>
          <a:bodyPr wrap="square" rtlCol="0" anchor="t"/>
          <a:lstStyle/>
          <a:p>
            <a:pPr marL="0" indent="0">
              <a:lnSpc>
                <a:spcPts val="2671"/>
              </a:lnSpc>
              <a:buNone/>
            </a:pPr>
            <a:r>
              <a:rPr lang="en-US" sz="1669" dirty="0">
                <a:solidFill>
                  <a:srgbClr val="DCD7E5"/>
                </a:solidFill>
                <a:latin typeface="Heebo" pitchFamily="34" charset="0"/>
                <a:ea typeface="Heebo" pitchFamily="34" charset="-122"/>
                <a:cs typeface="Heebo" pitchFamily="34" charset="-120"/>
              </a:rPr>
              <a:t> In today's rapidly evolving technological landscape, the ability to accurately predict mobile phone prices has become increasingly crucial. Machine learning algorithms have emerged as powerful tools, enabling automated decision-making, predictive analytics, and intelligent automation across various domains. This comprehensive study delves into the intricacies of classification algorithms, exploring their underlying principles, efficacy, and applicability in the realm of mobile price forecasting. By harnessing the insights gleaned from this research, practitioners, researchers, and enthusiasts can navigate the complex landscape of mobile technology with confidence and clarity.</a:t>
            </a:r>
            <a:endParaRPr lang="en-US" sz="1669"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txBody>
          <a:bodyPr/>
          <a:lstStyle/>
          <a:p>
            <a:endParaRPr lang="en-IN"/>
          </a:p>
        </p:txBody>
      </p:sp>
      <p:sp>
        <p:nvSpPr>
          <p:cNvPr id="4" name="Text 1"/>
          <p:cNvSpPr/>
          <p:nvPr/>
        </p:nvSpPr>
        <p:spPr>
          <a:xfrm>
            <a:off x="2037993" y="1505903"/>
            <a:ext cx="9074587" cy="694373"/>
          </a:xfrm>
          <a:prstGeom prst="rect">
            <a:avLst/>
          </a:prstGeom>
          <a:noFill/>
          <a:ln/>
        </p:spPr>
        <p:txBody>
          <a:bodyPr wrap="none" rtlCol="0" anchor="t"/>
          <a:lstStyle/>
          <a:p>
            <a:pPr marL="0" indent="0">
              <a:lnSpc>
                <a:spcPts val="5468"/>
              </a:lnSpc>
              <a:buNone/>
            </a:pPr>
            <a:r>
              <a:rPr lang="en-US" sz="4374" dirty="0">
                <a:solidFill>
                  <a:srgbClr val="F2F0F4"/>
                </a:solidFill>
                <a:latin typeface="Montserrat" pitchFamily="34" charset="0"/>
                <a:ea typeface="Montserrat" pitchFamily="34" charset="-122"/>
                <a:cs typeface="Montserrat" pitchFamily="34" charset="-120"/>
              </a:rPr>
              <a:t>Exploring Traditional Techniques</a:t>
            </a:r>
            <a:endParaRPr lang="en-US" sz="4374" dirty="0"/>
          </a:p>
        </p:txBody>
      </p:sp>
      <p:sp>
        <p:nvSpPr>
          <p:cNvPr id="5" name="Text 2"/>
          <p:cNvSpPr/>
          <p:nvPr/>
        </p:nvSpPr>
        <p:spPr>
          <a:xfrm>
            <a:off x="2037993" y="2755702"/>
            <a:ext cx="2777490" cy="347186"/>
          </a:xfrm>
          <a:prstGeom prst="rect">
            <a:avLst/>
          </a:prstGeom>
          <a:noFill/>
          <a:ln/>
        </p:spPr>
        <p:txBody>
          <a:bodyPr wrap="none" rtlCol="0" anchor="t"/>
          <a:lstStyle/>
          <a:p>
            <a:pPr marL="0" indent="0">
              <a:lnSpc>
                <a:spcPts val="2734"/>
              </a:lnSpc>
              <a:buNone/>
            </a:pPr>
            <a:r>
              <a:rPr lang="en-US" sz="2187" dirty="0">
                <a:solidFill>
                  <a:srgbClr val="F2F0F4"/>
                </a:solidFill>
                <a:latin typeface="Montserrat" pitchFamily="34" charset="0"/>
                <a:ea typeface="Montserrat" pitchFamily="34" charset="-122"/>
                <a:cs typeface="Montserrat" pitchFamily="34" charset="-120"/>
              </a:rPr>
              <a:t>Decision Trees</a:t>
            </a:r>
            <a:endParaRPr lang="en-US" sz="2187" dirty="0"/>
          </a:p>
        </p:txBody>
      </p:sp>
      <p:sp>
        <p:nvSpPr>
          <p:cNvPr id="6" name="Text 3"/>
          <p:cNvSpPr/>
          <p:nvPr/>
        </p:nvSpPr>
        <p:spPr>
          <a:xfrm>
            <a:off x="2037993" y="3325058"/>
            <a:ext cx="3156347" cy="3198614"/>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Decision trees are a popular supervised learning technique that employ a tree-like structure to make predictions. They excel at capturing complex relationships within the data and are particularly adept at handling both numerical and categorical features.</a:t>
            </a:r>
            <a:endParaRPr lang="en-US" sz="1750" dirty="0"/>
          </a:p>
        </p:txBody>
      </p:sp>
      <p:sp>
        <p:nvSpPr>
          <p:cNvPr id="7" name="Text 4"/>
          <p:cNvSpPr/>
          <p:nvPr/>
        </p:nvSpPr>
        <p:spPr>
          <a:xfrm>
            <a:off x="5743932" y="2755702"/>
            <a:ext cx="2777490" cy="347186"/>
          </a:xfrm>
          <a:prstGeom prst="rect">
            <a:avLst/>
          </a:prstGeom>
          <a:noFill/>
          <a:ln/>
        </p:spPr>
        <p:txBody>
          <a:bodyPr wrap="none" rtlCol="0" anchor="t"/>
          <a:lstStyle/>
          <a:p>
            <a:pPr marL="0" indent="0">
              <a:lnSpc>
                <a:spcPts val="2734"/>
              </a:lnSpc>
              <a:buNone/>
            </a:pPr>
            <a:r>
              <a:rPr lang="en-US" sz="2187" dirty="0">
                <a:solidFill>
                  <a:srgbClr val="F2F0F4"/>
                </a:solidFill>
                <a:latin typeface="Montserrat" pitchFamily="34" charset="0"/>
                <a:ea typeface="Montserrat" pitchFamily="34" charset="-122"/>
                <a:cs typeface="Montserrat" pitchFamily="34" charset="-120"/>
              </a:rPr>
              <a:t>Logistic Regression</a:t>
            </a:r>
            <a:endParaRPr lang="en-US" sz="2187" dirty="0"/>
          </a:p>
        </p:txBody>
      </p:sp>
      <p:sp>
        <p:nvSpPr>
          <p:cNvPr id="8" name="Text 5"/>
          <p:cNvSpPr/>
          <p:nvPr/>
        </p:nvSpPr>
        <p:spPr>
          <a:xfrm>
            <a:off x="5743932" y="3325058"/>
            <a:ext cx="3156347" cy="2843213"/>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Logistic regression is a statistical model used for binary classification tasks. It determines the probability of an event occurring based on one or more predictor variables, making it a powerful tool for mobile price prediction.</a:t>
            </a:r>
            <a:endParaRPr lang="en-US" sz="1750" dirty="0"/>
          </a:p>
        </p:txBody>
      </p:sp>
      <p:sp>
        <p:nvSpPr>
          <p:cNvPr id="9" name="Text 6"/>
          <p:cNvSpPr/>
          <p:nvPr/>
        </p:nvSpPr>
        <p:spPr>
          <a:xfrm>
            <a:off x="9449872" y="2755702"/>
            <a:ext cx="2898815" cy="347186"/>
          </a:xfrm>
          <a:prstGeom prst="rect">
            <a:avLst/>
          </a:prstGeom>
          <a:noFill/>
          <a:ln/>
        </p:spPr>
        <p:txBody>
          <a:bodyPr wrap="none" rtlCol="0" anchor="t"/>
          <a:lstStyle/>
          <a:p>
            <a:pPr marL="0" indent="0">
              <a:lnSpc>
                <a:spcPts val="2734"/>
              </a:lnSpc>
              <a:buNone/>
            </a:pPr>
            <a:r>
              <a:rPr lang="en-US" sz="2187" dirty="0">
                <a:solidFill>
                  <a:srgbClr val="F2F0F4"/>
                </a:solidFill>
                <a:latin typeface="Montserrat" pitchFamily="34" charset="0"/>
                <a:ea typeface="Montserrat" pitchFamily="34" charset="-122"/>
                <a:cs typeface="Montserrat" pitchFamily="34" charset="-120"/>
              </a:rPr>
              <a:t>K-Nearest Neighbors</a:t>
            </a:r>
            <a:endParaRPr lang="en-US" sz="2187" dirty="0"/>
          </a:p>
        </p:txBody>
      </p:sp>
      <p:sp>
        <p:nvSpPr>
          <p:cNvPr id="10" name="Text 7"/>
          <p:cNvSpPr/>
          <p:nvPr/>
        </p:nvSpPr>
        <p:spPr>
          <a:xfrm>
            <a:off x="9449872" y="3325058"/>
            <a:ext cx="3156347" cy="2843213"/>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K-Nearest Neighbors (KNN) is a non-parametric algorithm that classifies data points based on their proximity to their nearest neighbors. Its simplicity and intuitive nature make it a versatile choice for mobile price prediction.</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txBody>
          <a:bodyPr/>
          <a:lstStyle/>
          <a:p>
            <a:endParaRPr lang="en-IN"/>
          </a:p>
        </p:txBody>
      </p:sp>
      <p:pic>
        <p:nvPicPr>
          <p:cNvPr id="4" name="Image 1" descr="preencoded.png"/>
          <p:cNvPicPr>
            <a:picLocks noChangeAspect="1"/>
          </p:cNvPicPr>
          <p:nvPr/>
        </p:nvPicPr>
        <p:blipFill>
          <a:blip r:embed="rId4"/>
          <a:stretch>
            <a:fillRect/>
          </a:stretch>
        </p:blipFill>
        <p:spPr>
          <a:xfrm>
            <a:off x="-7620" y="0"/>
            <a:ext cx="3657600" cy="8229600"/>
          </a:xfrm>
          <a:prstGeom prst="rect">
            <a:avLst/>
          </a:prstGeom>
        </p:spPr>
      </p:pic>
      <p:sp>
        <p:nvSpPr>
          <p:cNvPr id="5" name="Text 1"/>
          <p:cNvSpPr/>
          <p:nvPr/>
        </p:nvSpPr>
        <p:spPr>
          <a:xfrm>
            <a:off x="4977765" y="902375"/>
            <a:ext cx="8332470" cy="1096089"/>
          </a:xfrm>
          <a:prstGeom prst="rect">
            <a:avLst/>
          </a:prstGeom>
          <a:noFill/>
          <a:ln/>
        </p:spPr>
        <p:txBody>
          <a:bodyPr wrap="square" rtlCol="0" anchor="t"/>
          <a:lstStyle/>
          <a:p>
            <a:pPr marL="0" indent="0">
              <a:lnSpc>
                <a:spcPts val="4316"/>
              </a:lnSpc>
              <a:buNone/>
            </a:pPr>
            <a:r>
              <a:rPr lang="en-US" sz="3453" dirty="0">
                <a:solidFill>
                  <a:srgbClr val="F2F0F4"/>
                </a:solidFill>
                <a:latin typeface="Montserrat" pitchFamily="34" charset="0"/>
                <a:ea typeface="Montserrat" pitchFamily="34" charset="-122"/>
                <a:cs typeface="Montserrat" pitchFamily="34" charset="-120"/>
              </a:rPr>
              <a:t>Ensemble Methods: Boosting the Performance</a:t>
            </a:r>
            <a:endParaRPr lang="en-US" sz="3453" dirty="0"/>
          </a:p>
        </p:txBody>
      </p:sp>
      <p:sp>
        <p:nvSpPr>
          <p:cNvPr id="6" name="Shape 2"/>
          <p:cNvSpPr/>
          <p:nvPr/>
        </p:nvSpPr>
        <p:spPr>
          <a:xfrm>
            <a:off x="5223391" y="2261592"/>
            <a:ext cx="35004" cy="5065633"/>
          </a:xfrm>
          <a:prstGeom prst="roundRect">
            <a:avLst>
              <a:gd name="adj" fmla="val 225515"/>
            </a:avLst>
          </a:prstGeom>
          <a:solidFill>
            <a:srgbClr val="552C86"/>
          </a:solidFill>
          <a:ln/>
        </p:spPr>
        <p:txBody>
          <a:bodyPr/>
          <a:lstStyle/>
          <a:p>
            <a:endParaRPr lang="en-IN"/>
          </a:p>
        </p:txBody>
      </p:sp>
      <p:sp>
        <p:nvSpPr>
          <p:cNvPr id="7" name="Shape 3"/>
          <p:cNvSpPr/>
          <p:nvPr/>
        </p:nvSpPr>
        <p:spPr>
          <a:xfrm>
            <a:off x="5438239" y="2578418"/>
            <a:ext cx="613886" cy="35004"/>
          </a:xfrm>
          <a:prstGeom prst="roundRect">
            <a:avLst>
              <a:gd name="adj" fmla="val 225515"/>
            </a:avLst>
          </a:prstGeom>
          <a:solidFill>
            <a:srgbClr val="552C86"/>
          </a:solidFill>
          <a:ln/>
        </p:spPr>
        <p:txBody>
          <a:bodyPr/>
          <a:lstStyle/>
          <a:p>
            <a:endParaRPr lang="en-IN"/>
          </a:p>
        </p:txBody>
      </p:sp>
      <p:sp>
        <p:nvSpPr>
          <p:cNvPr id="8" name="Shape 4"/>
          <p:cNvSpPr/>
          <p:nvPr/>
        </p:nvSpPr>
        <p:spPr>
          <a:xfrm>
            <a:off x="5043547" y="2398633"/>
            <a:ext cx="394692" cy="394692"/>
          </a:xfrm>
          <a:prstGeom prst="roundRect">
            <a:avLst>
              <a:gd name="adj" fmla="val 20000"/>
            </a:avLst>
          </a:prstGeom>
          <a:solidFill>
            <a:srgbClr val="3C136D"/>
          </a:solidFill>
          <a:ln w="7620">
            <a:solidFill>
              <a:srgbClr val="552C86"/>
            </a:solidFill>
            <a:prstDash val="solid"/>
          </a:ln>
        </p:spPr>
        <p:txBody>
          <a:bodyPr/>
          <a:lstStyle/>
          <a:p>
            <a:endParaRPr lang="en-IN"/>
          </a:p>
        </p:txBody>
      </p:sp>
      <p:sp>
        <p:nvSpPr>
          <p:cNvPr id="9" name="Text 5"/>
          <p:cNvSpPr/>
          <p:nvPr/>
        </p:nvSpPr>
        <p:spPr>
          <a:xfrm>
            <a:off x="5193328" y="2431494"/>
            <a:ext cx="95012" cy="328851"/>
          </a:xfrm>
          <a:prstGeom prst="rect">
            <a:avLst/>
          </a:prstGeom>
          <a:noFill/>
          <a:ln/>
        </p:spPr>
        <p:txBody>
          <a:bodyPr wrap="none" rtlCol="0" anchor="t"/>
          <a:lstStyle/>
          <a:p>
            <a:pPr marL="0" indent="0" algn="ctr">
              <a:lnSpc>
                <a:spcPts val="2590"/>
              </a:lnSpc>
              <a:buNone/>
            </a:pPr>
            <a:r>
              <a:rPr lang="en-US" sz="2072" dirty="0">
                <a:solidFill>
                  <a:srgbClr val="DCD7E5"/>
                </a:solidFill>
                <a:latin typeface="Montserrat" pitchFamily="34" charset="0"/>
                <a:ea typeface="Montserrat" pitchFamily="34" charset="-122"/>
                <a:cs typeface="Montserrat" pitchFamily="34" charset="-120"/>
              </a:rPr>
              <a:t>1</a:t>
            </a:r>
            <a:endParaRPr lang="en-US" sz="2072" dirty="0"/>
          </a:p>
        </p:txBody>
      </p:sp>
      <p:sp>
        <p:nvSpPr>
          <p:cNvPr id="10" name="Text 6"/>
          <p:cNvSpPr/>
          <p:nvPr/>
        </p:nvSpPr>
        <p:spPr>
          <a:xfrm>
            <a:off x="6205657" y="2436971"/>
            <a:ext cx="2192655" cy="274082"/>
          </a:xfrm>
          <a:prstGeom prst="rect">
            <a:avLst/>
          </a:prstGeom>
          <a:noFill/>
          <a:ln/>
        </p:spPr>
        <p:txBody>
          <a:bodyPr wrap="none" rtlCol="0" anchor="t"/>
          <a:lstStyle/>
          <a:p>
            <a:pPr marL="0" indent="0" algn="l">
              <a:lnSpc>
                <a:spcPts val="2158"/>
              </a:lnSpc>
              <a:buNone/>
            </a:pPr>
            <a:r>
              <a:rPr lang="en-US" sz="1727" dirty="0">
                <a:solidFill>
                  <a:srgbClr val="DCD7E5"/>
                </a:solidFill>
                <a:latin typeface="Montserrat" pitchFamily="34" charset="0"/>
                <a:ea typeface="Montserrat" pitchFamily="34" charset="-122"/>
                <a:cs typeface="Montserrat" pitchFamily="34" charset="-120"/>
              </a:rPr>
              <a:t>Random Forest</a:t>
            </a:r>
            <a:endParaRPr lang="en-US" sz="1727" dirty="0"/>
          </a:p>
        </p:txBody>
      </p:sp>
      <p:sp>
        <p:nvSpPr>
          <p:cNvPr id="11" name="Text 7"/>
          <p:cNvSpPr/>
          <p:nvPr/>
        </p:nvSpPr>
        <p:spPr>
          <a:xfrm>
            <a:off x="6205657" y="2816304"/>
            <a:ext cx="7104578" cy="841534"/>
          </a:xfrm>
          <a:prstGeom prst="rect">
            <a:avLst/>
          </a:prstGeom>
          <a:noFill/>
          <a:ln/>
        </p:spPr>
        <p:txBody>
          <a:bodyPr wrap="square" rtlCol="0" anchor="t"/>
          <a:lstStyle/>
          <a:p>
            <a:pPr marL="0" indent="0" algn="l">
              <a:lnSpc>
                <a:spcPts val="2210"/>
              </a:lnSpc>
              <a:buNone/>
            </a:pPr>
            <a:r>
              <a:rPr lang="en-US" sz="1381" dirty="0">
                <a:solidFill>
                  <a:srgbClr val="DCD7E5"/>
                </a:solidFill>
                <a:latin typeface="Heebo" pitchFamily="34" charset="0"/>
                <a:ea typeface="Heebo" pitchFamily="34" charset="-122"/>
                <a:cs typeface="Heebo" pitchFamily="34" charset="-120"/>
              </a:rPr>
              <a:t>Random Forest is an ensemble learning method that combines multiple decision trees to improve predictive accuracy and reduce overfitting. Its ability to handle a wide range of data types and its robustness to noise make it a compelling choice for mobile price prediction.</a:t>
            </a:r>
            <a:endParaRPr lang="en-US" sz="1381" dirty="0"/>
          </a:p>
        </p:txBody>
      </p:sp>
      <p:sp>
        <p:nvSpPr>
          <p:cNvPr id="12" name="Shape 8"/>
          <p:cNvSpPr/>
          <p:nvPr/>
        </p:nvSpPr>
        <p:spPr>
          <a:xfrm>
            <a:off x="5438239" y="4325422"/>
            <a:ext cx="613886" cy="35004"/>
          </a:xfrm>
          <a:prstGeom prst="roundRect">
            <a:avLst>
              <a:gd name="adj" fmla="val 225515"/>
            </a:avLst>
          </a:prstGeom>
          <a:solidFill>
            <a:srgbClr val="552C86"/>
          </a:solidFill>
          <a:ln/>
        </p:spPr>
        <p:txBody>
          <a:bodyPr/>
          <a:lstStyle/>
          <a:p>
            <a:endParaRPr lang="en-IN"/>
          </a:p>
        </p:txBody>
      </p:sp>
      <p:sp>
        <p:nvSpPr>
          <p:cNvPr id="13" name="Shape 9"/>
          <p:cNvSpPr/>
          <p:nvPr/>
        </p:nvSpPr>
        <p:spPr>
          <a:xfrm>
            <a:off x="5043547" y="4145637"/>
            <a:ext cx="394692" cy="394692"/>
          </a:xfrm>
          <a:prstGeom prst="roundRect">
            <a:avLst>
              <a:gd name="adj" fmla="val 20000"/>
            </a:avLst>
          </a:prstGeom>
          <a:solidFill>
            <a:srgbClr val="3C136D"/>
          </a:solidFill>
          <a:ln w="7620">
            <a:solidFill>
              <a:srgbClr val="552C86"/>
            </a:solidFill>
            <a:prstDash val="solid"/>
          </a:ln>
        </p:spPr>
        <p:txBody>
          <a:bodyPr/>
          <a:lstStyle/>
          <a:p>
            <a:endParaRPr lang="en-IN"/>
          </a:p>
        </p:txBody>
      </p:sp>
      <p:sp>
        <p:nvSpPr>
          <p:cNvPr id="14" name="Text 10"/>
          <p:cNvSpPr/>
          <p:nvPr/>
        </p:nvSpPr>
        <p:spPr>
          <a:xfrm>
            <a:off x="5166181" y="4178498"/>
            <a:ext cx="149423" cy="328851"/>
          </a:xfrm>
          <a:prstGeom prst="rect">
            <a:avLst/>
          </a:prstGeom>
          <a:noFill/>
          <a:ln/>
        </p:spPr>
        <p:txBody>
          <a:bodyPr wrap="none" rtlCol="0" anchor="t"/>
          <a:lstStyle/>
          <a:p>
            <a:pPr marL="0" indent="0" algn="ctr">
              <a:lnSpc>
                <a:spcPts val="2590"/>
              </a:lnSpc>
              <a:buNone/>
            </a:pPr>
            <a:r>
              <a:rPr lang="en-US" sz="2072" dirty="0">
                <a:solidFill>
                  <a:srgbClr val="DCD7E5"/>
                </a:solidFill>
                <a:latin typeface="Montserrat" pitchFamily="34" charset="0"/>
                <a:ea typeface="Montserrat" pitchFamily="34" charset="-122"/>
                <a:cs typeface="Montserrat" pitchFamily="34" charset="-120"/>
              </a:rPr>
              <a:t>2</a:t>
            </a:r>
            <a:endParaRPr lang="en-US" sz="2072" dirty="0"/>
          </a:p>
        </p:txBody>
      </p:sp>
      <p:sp>
        <p:nvSpPr>
          <p:cNvPr id="15" name="Text 11"/>
          <p:cNvSpPr/>
          <p:nvPr/>
        </p:nvSpPr>
        <p:spPr>
          <a:xfrm>
            <a:off x="6205657" y="4183975"/>
            <a:ext cx="2192655" cy="274082"/>
          </a:xfrm>
          <a:prstGeom prst="rect">
            <a:avLst/>
          </a:prstGeom>
          <a:noFill/>
          <a:ln/>
        </p:spPr>
        <p:txBody>
          <a:bodyPr wrap="none" rtlCol="0" anchor="t"/>
          <a:lstStyle/>
          <a:p>
            <a:pPr marL="0" indent="0" algn="l">
              <a:lnSpc>
                <a:spcPts val="2158"/>
              </a:lnSpc>
              <a:buNone/>
            </a:pPr>
            <a:r>
              <a:rPr lang="en-US" sz="1727" dirty="0">
                <a:solidFill>
                  <a:srgbClr val="DCD7E5"/>
                </a:solidFill>
                <a:latin typeface="Montserrat" pitchFamily="34" charset="0"/>
                <a:ea typeface="Montserrat" pitchFamily="34" charset="-122"/>
                <a:cs typeface="Montserrat" pitchFamily="34" charset="-120"/>
              </a:rPr>
              <a:t>Gradient Boosting</a:t>
            </a:r>
            <a:endParaRPr lang="en-US" sz="1727" dirty="0"/>
          </a:p>
        </p:txBody>
      </p:sp>
      <p:sp>
        <p:nvSpPr>
          <p:cNvPr id="16" name="Text 12"/>
          <p:cNvSpPr/>
          <p:nvPr/>
        </p:nvSpPr>
        <p:spPr>
          <a:xfrm>
            <a:off x="6205657" y="4563308"/>
            <a:ext cx="7104578" cy="841534"/>
          </a:xfrm>
          <a:prstGeom prst="rect">
            <a:avLst/>
          </a:prstGeom>
          <a:noFill/>
          <a:ln/>
        </p:spPr>
        <p:txBody>
          <a:bodyPr wrap="square" rtlCol="0" anchor="t"/>
          <a:lstStyle/>
          <a:p>
            <a:pPr marL="0" indent="0" algn="l">
              <a:lnSpc>
                <a:spcPts val="2210"/>
              </a:lnSpc>
              <a:buNone/>
            </a:pPr>
            <a:r>
              <a:rPr lang="en-US" sz="1381" dirty="0">
                <a:solidFill>
                  <a:srgbClr val="DCD7E5"/>
                </a:solidFill>
                <a:latin typeface="Heebo" pitchFamily="34" charset="0"/>
                <a:ea typeface="Heebo" pitchFamily="34" charset="-122"/>
                <a:cs typeface="Heebo" pitchFamily="34" charset="-120"/>
              </a:rPr>
              <a:t>Gradient Boosting is a powerful ensemble technique that sequentially builds weak learners, often decision trees, to create a strong predictive model. Its adaptability and high performance make it a popular choice for mobile price forecasting.</a:t>
            </a:r>
            <a:endParaRPr lang="en-US" sz="1381" dirty="0"/>
          </a:p>
        </p:txBody>
      </p:sp>
      <p:sp>
        <p:nvSpPr>
          <p:cNvPr id="17" name="Shape 13"/>
          <p:cNvSpPr/>
          <p:nvPr/>
        </p:nvSpPr>
        <p:spPr>
          <a:xfrm>
            <a:off x="5438239" y="6072426"/>
            <a:ext cx="613886" cy="35004"/>
          </a:xfrm>
          <a:prstGeom prst="roundRect">
            <a:avLst>
              <a:gd name="adj" fmla="val 225515"/>
            </a:avLst>
          </a:prstGeom>
          <a:solidFill>
            <a:srgbClr val="552C86"/>
          </a:solidFill>
          <a:ln/>
        </p:spPr>
        <p:txBody>
          <a:bodyPr/>
          <a:lstStyle/>
          <a:p>
            <a:endParaRPr lang="en-IN"/>
          </a:p>
        </p:txBody>
      </p:sp>
      <p:sp>
        <p:nvSpPr>
          <p:cNvPr id="18" name="Shape 14"/>
          <p:cNvSpPr/>
          <p:nvPr/>
        </p:nvSpPr>
        <p:spPr>
          <a:xfrm>
            <a:off x="5043547" y="5892641"/>
            <a:ext cx="394692" cy="394692"/>
          </a:xfrm>
          <a:prstGeom prst="roundRect">
            <a:avLst>
              <a:gd name="adj" fmla="val 20000"/>
            </a:avLst>
          </a:prstGeom>
          <a:solidFill>
            <a:srgbClr val="3C136D"/>
          </a:solidFill>
          <a:ln w="7620">
            <a:solidFill>
              <a:srgbClr val="552C86"/>
            </a:solidFill>
            <a:prstDash val="solid"/>
          </a:ln>
        </p:spPr>
        <p:txBody>
          <a:bodyPr/>
          <a:lstStyle/>
          <a:p>
            <a:endParaRPr lang="en-IN"/>
          </a:p>
        </p:txBody>
      </p:sp>
      <p:sp>
        <p:nvSpPr>
          <p:cNvPr id="19" name="Text 15"/>
          <p:cNvSpPr/>
          <p:nvPr/>
        </p:nvSpPr>
        <p:spPr>
          <a:xfrm>
            <a:off x="5166658" y="5925502"/>
            <a:ext cx="148352" cy="328851"/>
          </a:xfrm>
          <a:prstGeom prst="rect">
            <a:avLst/>
          </a:prstGeom>
          <a:noFill/>
          <a:ln/>
        </p:spPr>
        <p:txBody>
          <a:bodyPr wrap="none" rtlCol="0" anchor="t"/>
          <a:lstStyle/>
          <a:p>
            <a:pPr marL="0" indent="0" algn="ctr">
              <a:lnSpc>
                <a:spcPts val="2590"/>
              </a:lnSpc>
              <a:buNone/>
            </a:pPr>
            <a:r>
              <a:rPr lang="en-US" sz="2072" dirty="0">
                <a:solidFill>
                  <a:srgbClr val="DCD7E5"/>
                </a:solidFill>
                <a:latin typeface="Montserrat" pitchFamily="34" charset="0"/>
                <a:ea typeface="Montserrat" pitchFamily="34" charset="-122"/>
                <a:cs typeface="Montserrat" pitchFamily="34" charset="-120"/>
              </a:rPr>
              <a:t>3</a:t>
            </a:r>
            <a:endParaRPr lang="en-US" sz="2072" dirty="0"/>
          </a:p>
        </p:txBody>
      </p:sp>
      <p:sp>
        <p:nvSpPr>
          <p:cNvPr id="20" name="Text 16"/>
          <p:cNvSpPr/>
          <p:nvPr/>
        </p:nvSpPr>
        <p:spPr>
          <a:xfrm>
            <a:off x="6205657" y="5930979"/>
            <a:ext cx="2192655" cy="274082"/>
          </a:xfrm>
          <a:prstGeom prst="rect">
            <a:avLst/>
          </a:prstGeom>
          <a:noFill/>
          <a:ln/>
        </p:spPr>
        <p:txBody>
          <a:bodyPr wrap="none" rtlCol="0" anchor="t"/>
          <a:lstStyle/>
          <a:p>
            <a:pPr marL="0" indent="0" algn="l">
              <a:lnSpc>
                <a:spcPts val="2158"/>
              </a:lnSpc>
              <a:buNone/>
            </a:pPr>
            <a:r>
              <a:rPr lang="en-US" sz="1727" dirty="0">
                <a:solidFill>
                  <a:srgbClr val="DCD7E5"/>
                </a:solidFill>
                <a:latin typeface="Montserrat" pitchFamily="34" charset="0"/>
                <a:ea typeface="Montserrat" pitchFamily="34" charset="-122"/>
                <a:cs typeface="Montserrat" pitchFamily="34" charset="-120"/>
              </a:rPr>
              <a:t>XGBoost</a:t>
            </a:r>
            <a:endParaRPr lang="en-US" sz="1727" dirty="0"/>
          </a:p>
        </p:txBody>
      </p:sp>
      <p:sp>
        <p:nvSpPr>
          <p:cNvPr id="21" name="Text 17"/>
          <p:cNvSpPr/>
          <p:nvPr/>
        </p:nvSpPr>
        <p:spPr>
          <a:xfrm>
            <a:off x="6205657" y="6310313"/>
            <a:ext cx="7104578" cy="841534"/>
          </a:xfrm>
          <a:prstGeom prst="rect">
            <a:avLst/>
          </a:prstGeom>
          <a:noFill/>
          <a:ln/>
        </p:spPr>
        <p:txBody>
          <a:bodyPr wrap="square" rtlCol="0" anchor="t"/>
          <a:lstStyle/>
          <a:p>
            <a:pPr marL="0" indent="0" algn="l">
              <a:lnSpc>
                <a:spcPts val="2210"/>
              </a:lnSpc>
              <a:buNone/>
            </a:pPr>
            <a:r>
              <a:rPr lang="en-US" sz="1381" dirty="0">
                <a:solidFill>
                  <a:srgbClr val="DCD7E5"/>
                </a:solidFill>
                <a:latin typeface="Heebo" pitchFamily="34" charset="0"/>
                <a:ea typeface="Heebo" pitchFamily="34" charset="-122"/>
                <a:cs typeface="Heebo" pitchFamily="34" charset="-120"/>
              </a:rPr>
              <a:t>XGBoost, or Extreme Gradient Boosting, is a highly efficient and scalable implementation of gradient boosting. Its advanced optimization techniques and parallelization capabilities make it a top-performing algorithm for mobile price prediction.</a:t>
            </a:r>
            <a:endParaRPr lang="en-US" sz="138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txBody>
          <a:bodyPr/>
          <a:lstStyle/>
          <a:p>
            <a:endParaRPr lang="en-IN"/>
          </a:p>
        </p:txBody>
      </p:sp>
      <p:sp>
        <p:nvSpPr>
          <p:cNvPr id="4" name="Text 1"/>
          <p:cNvSpPr/>
          <p:nvPr/>
        </p:nvSpPr>
        <p:spPr>
          <a:xfrm>
            <a:off x="2037993" y="704731"/>
            <a:ext cx="10554414" cy="1388745"/>
          </a:xfrm>
          <a:prstGeom prst="rect">
            <a:avLst/>
          </a:prstGeom>
          <a:noFill/>
          <a:ln/>
        </p:spPr>
        <p:txBody>
          <a:bodyPr wrap="square" rtlCol="0" anchor="t"/>
          <a:lstStyle/>
          <a:p>
            <a:pPr marL="0" indent="0">
              <a:lnSpc>
                <a:spcPts val="5468"/>
              </a:lnSpc>
              <a:buNone/>
            </a:pPr>
            <a:r>
              <a:rPr lang="en-US" sz="4374" dirty="0">
                <a:solidFill>
                  <a:srgbClr val="F2F0F4"/>
                </a:solidFill>
                <a:latin typeface="Montserrat" pitchFamily="34" charset="0"/>
                <a:ea typeface="Montserrat" pitchFamily="34" charset="-122"/>
                <a:cs typeface="Montserrat" pitchFamily="34" charset="-120"/>
              </a:rPr>
              <a:t>Advanced Techniques: Pushing the Boundaries</a:t>
            </a:r>
            <a:endParaRPr lang="en-US" sz="4374" dirty="0"/>
          </a:p>
        </p:txBody>
      </p:sp>
      <p:sp>
        <p:nvSpPr>
          <p:cNvPr id="5" name="Shape 2"/>
          <p:cNvSpPr/>
          <p:nvPr/>
        </p:nvSpPr>
        <p:spPr>
          <a:xfrm>
            <a:off x="2037993" y="2711410"/>
            <a:ext cx="499943" cy="499943"/>
          </a:xfrm>
          <a:prstGeom prst="roundRect">
            <a:avLst>
              <a:gd name="adj" fmla="val 20000"/>
            </a:avLst>
          </a:prstGeom>
          <a:solidFill>
            <a:srgbClr val="3C136D"/>
          </a:solidFill>
          <a:ln w="7620">
            <a:solidFill>
              <a:srgbClr val="552C86"/>
            </a:solidFill>
            <a:prstDash val="solid"/>
          </a:ln>
        </p:spPr>
        <p:txBody>
          <a:bodyPr/>
          <a:lstStyle/>
          <a:p>
            <a:endParaRPr lang="en-IN"/>
          </a:p>
        </p:txBody>
      </p:sp>
      <p:sp>
        <p:nvSpPr>
          <p:cNvPr id="6" name="Text 3"/>
          <p:cNvSpPr/>
          <p:nvPr/>
        </p:nvSpPr>
        <p:spPr>
          <a:xfrm>
            <a:off x="2227778" y="2753082"/>
            <a:ext cx="120372" cy="416481"/>
          </a:xfrm>
          <a:prstGeom prst="rect">
            <a:avLst/>
          </a:prstGeom>
          <a:noFill/>
          <a:ln/>
        </p:spPr>
        <p:txBody>
          <a:bodyPr wrap="none" rtlCol="0" anchor="t"/>
          <a:lstStyle/>
          <a:p>
            <a:pPr marL="0" indent="0" algn="ctr">
              <a:lnSpc>
                <a:spcPts val="3281"/>
              </a:lnSpc>
              <a:buNone/>
            </a:pPr>
            <a:r>
              <a:rPr lang="en-US" sz="2624" dirty="0">
                <a:solidFill>
                  <a:srgbClr val="DCD7E5"/>
                </a:solidFill>
                <a:latin typeface="Montserrat" pitchFamily="34" charset="0"/>
                <a:ea typeface="Montserrat" pitchFamily="34" charset="-122"/>
                <a:cs typeface="Montserrat" pitchFamily="34" charset="-120"/>
              </a:rPr>
              <a:t>1</a:t>
            </a:r>
            <a:endParaRPr lang="en-US" sz="2624" dirty="0"/>
          </a:p>
        </p:txBody>
      </p:sp>
      <p:sp>
        <p:nvSpPr>
          <p:cNvPr id="7" name="Text 4"/>
          <p:cNvSpPr/>
          <p:nvPr/>
        </p:nvSpPr>
        <p:spPr>
          <a:xfrm>
            <a:off x="2760107" y="2787729"/>
            <a:ext cx="2647950" cy="694373"/>
          </a:xfrm>
          <a:prstGeom prst="rect">
            <a:avLst/>
          </a:prstGeom>
          <a:noFill/>
          <a:ln/>
        </p:spPr>
        <p:txBody>
          <a:bodyPr wrap="square" rtlCol="0" anchor="t"/>
          <a:lstStyle/>
          <a:p>
            <a:pPr marL="0" indent="0">
              <a:lnSpc>
                <a:spcPts val="2734"/>
              </a:lnSpc>
              <a:buNone/>
            </a:pPr>
            <a:r>
              <a:rPr lang="en-US" sz="2187" dirty="0">
                <a:solidFill>
                  <a:srgbClr val="DCD7E5"/>
                </a:solidFill>
                <a:latin typeface="Montserrat" pitchFamily="34" charset="0"/>
                <a:ea typeface="Montserrat" pitchFamily="34" charset="-122"/>
                <a:cs typeface="Montserrat" pitchFamily="34" charset="-120"/>
              </a:rPr>
              <a:t>Support Vector Machines (SVM)</a:t>
            </a:r>
            <a:endParaRPr lang="en-US" sz="2187" dirty="0"/>
          </a:p>
        </p:txBody>
      </p:sp>
      <p:sp>
        <p:nvSpPr>
          <p:cNvPr id="8" name="Text 5"/>
          <p:cNvSpPr/>
          <p:nvPr/>
        </p:nvSpPr>
        <p:spPr>
          <a:xfrm>
            <a:off x="2760107" y="3615333"/>
            <a:ext cx="2647950" cy="3554016"/>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SVM is a powerful supervised learning algorithm that finds the optimal hyperplane to separate different classes. Its ability to handle high-dimensional data and its robustness to overfitting make it a strong contender for mobile price prediction.</a:t>
            </a:r>
            <a:endParaRPr lang="en-US" sz="1750" dirty="0"/>
          </a:p>
        </p:txBody>
      </p:sp>
      <p:sp>
        <p:nvSpPr>
          <p:cNvPr id="9" name="Shape 6"/>
          <p:cNvSpPr/>
          <p:nvPr/>
        </p:nvSpPr>
        <p:spPr>
          <a:xfrm>
            <a:off x="5630228" y="2711410"/>
            <a:ext cx="499943" cy="499943"/>
          </a:xfrm>
          <a:prstGeom prst="roundRect">
            <a:avLst>
              <a:gd name="adj" fmla="val 20000"/>
            </a:avLst>
          </a:prstGeom>
          <a:solidFill>
            <a:srgbClr val="3C136D"/>
          </a:solidFill>
          <a:ln w="7620">
            <a:solidFill>
              <a:srgbClr val="552C86"/>
            </a:solidFill>
            <a:prstDash val="solid"/>
          </a:ln>
        </p:spPr>
        <p:txBody>
          <a:bodyPr/>
          <a:lstStyle/>
          <a:p>
            <a:endParaRPr lang="en-IN"/>
          </a:p>
        </p:txBody>
      </p:sp>
      <p:sp>
        <p:nvSpPr>
          <p:cNvPr id="10" name="Text 7"/>
          <p:cNvSpPr/>
          <p:nvPr/>
        </p:nvSpPr>
        <p:spPr>
          <a:xfrm>
            <a:off x="5785485" y="2753082"/>
            <a:ext cx="189309" cy="416481"/>
          </a:xfrm>
          <a:prstGeom prst="rect">
            <a:avLst/>
          </a:prstGeom>
          <a:noFill/>
          <a:ln/>
        </p:spPr>
        <p:txBody>
          <a:bodyPr wrap="none" rtlCol="0" anchor="t"/>
          <a:lstStyle/>
          <a:p>
            <a:pPr marL="0" indent="0" algn="ctr">
              <a:lnSpc>
                <a:spcPts val="3281"/>
              </a:lnSpc>
              <a:buNone/>
            </a:pPr>
            <a:r>
              <a:rPr lang="en-US" sz="2624" dirty="0">
                <a:solidFill>
                  <a:srgbClr val="DCD7E5"/>
                </a:solidFill>
                <a:latin typeface="Montserrat" pitchFamily="34" charset="0"/>
                <a:ea typeface="Montserrat" pitchFamily="34" charset="-122"/>
                <a:cs typeface="Montserrat" pitchFamily="34" charset="-120"/>
              </a:rPr>
              <a:t>2</a:t>
            </a:r>
            <a:endParaRPr lang="en-US" sz="2624" dirty="0"/>
          </a:p>
        </p:txBody>
      </p:sp>
      <p:sp>
        <p:nvSpPr>
          <p:cNvPr id="11" name="Text 8"/>
          <p:cNvSpPr/>
          <p:nvPr/>
        </p:nvSpPr>
        <p:spPr>
          <a:xfrm>
            <a:off x="6352342" y="2787729"/>
            <a:ext cx="2647950" cy="347186"/>
          </a:xfrm>
          <a:prstGeom prst="rect">
            <a:avLst/>
          </a:prstGeom>
          <a:noFill/>
          <a:ln/>
        </p:spPr>
        <p:txBody>
          <a:bodyPr wrap="none" rtlCol="0" anchor="t"/>
          <a:lstStyle/>
          <a:p>
            <a:pPr marL="0" indent="0">
              <a:lnSpc>
                <a:spcPts val="2734"/>
              </a:lnSpc>
              <a:buNone/>
            </a:pPr>
            <a:r>
              <a:rPr lang="en-US" sz="2187" dirty="0">
                <a:solidFill>
                  <a:srgbClr val="DCD7E5"/>
                </a:solidFill>
                <a:latin typeface="Montserrat" pitchFamily="34" charset="0"/>
                <a:ea typeface="Montserrat" pitchFamily="34" charset="-122"/>
                <a:cs typeface="Montserrat" pitchFamily="34" charset="-120"/>
              </a:rPr>
              <a:t>Neural Networks</a:t>
            </a:r>
            <a:endParaRPr lang="en-US" sz="2187" dirty="0"/>
          </a:p>
        </p:txBody>
      </p:sp>
      <p:sp>
        <p:nvSpPr>
          <p:cNvPr id="12" name="Text 9"/>
          <p:cNvSpPr/>
          <p:nvPr/>
        </p:nvSpPr>
        <p:spPr>
          <a:xfrm>
            <a:off x="6352342" y="3268147"/>
            <a:ext cx="2647950" cy="3554016"/>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Neural networks, inspired by the human brain, are capable of learning complex patterns in data. Their versatility and adaptability make them well-suited for mobile price forecasting, particularly in capturing non-linear relationships.</a:t>
            </a:r>
            <a:endParaRPr lang="en-US" sz="1750" dirty="0"/>
          </a:p>
        </p:txBody>
      </p:sp>
      <p:sp>
        <p:nvSpPr>
          <p:cNvPr id="13" name="Shape 10"/>
          <p:cNvSpPr/>
          <p:nvPr/>
        </p:nvSpPr>
        <p:spPr>
          <a:xfrm>
            <a:off x="9222462" y="2711410"/>
            <a:ext cx="499943" cy="499943"/>
          </a:xfrm>
          <a:prstGeom prst="roundRect">
            <a:avLst>
              <a:gd name="adj" fmla="val 20000"/>
            </a:avLst>
          </a:prstGeom>
          <a:solidFill>
            <a:srgbClr val="3C136D"/>
          </a:solidFill>
          <a:ln w="7620">
            <a:solidFill>
              <a:srgbClr val="552C86"/>
            </a:solidFill>
            <a:prstDash val="solid"/>
          </a:ln>
        </p:spPr>
        <p:txBody>
          <a:bodyPr/>
          <a:lstStyle/>
          <a:p>
            <a:endParaRPr lang="en-IN"/>
          </a:p>
        </p:txBody>
      </p:sp>
      <p:sp>
        <p:nvSpPr>
          <p:cNvPr id="14" name="Text 11"/>
          <p:cNvSpPr/>
          <p:nvPr/>
        </p:nvSpPr>
        <p:spPr>
          <a:xfrm>
            <a:off x="9378434" y="2753082"/>
            <a:ext cx="188000" cy="416481"/>
          </a:xfrm>
          <a:prstGeom prst="rect">
            <a:avLst/>
          </a:prstGeom>
          <a:noFill/>
          <a:ln/>
        </p:spPr>
        <p:txBody>
          <a:bodyPr wrap="none" rtlCol="0" anchor="t"/>
          <a:lstStyle/>
          <a:p>
            <a:pPr marL="0" indent="0" algn="ctr">
              <a:lnSpc>
                <a:spcPts val="3281"/>
              </a:lnSpc>
              <a:buNone/>
            </a:pPr>
            <a:r>
              <a:rPr lang="en-US" sz="2624" dirty="0">
                <a:solidFill>
                  <a:srgbClr val="DCD7E5"/>
                </a:solidFill>
                <a:latin typeface="Montserrat" pitchFamily="34" charset="0"/>
                <a:ea typeface="Montserrat" pitchFamily="34" charset="-122"/>
                <a:cs typeface="Montserrat" pitchFamily="34" charset="-120"/>
              </a:rPr>
              <a:t>3</a:t>
            </a:r>
            <a:endParaRPr lang="en-US" sz="2624" dirty="0"/>
          </a:p>
        </p:txBody>
      </p:sp>
      <p:sp>
        <p:nvSpPr>
          <p:cNvPr id="15" name="Text 12"/>
          <p:cNvSpPr/>
          <p:nvPr/>
        </p:nvSpPr>
        <p:spPr>
          <a:xfrm>
            <a:off x="9944576" y="2787729"/>
            <a:ext cx="2647950" cy="694373"/>
          </a:xfrm>
          <a:prstGeom prst="rect">
            <a:avLst/>
          </a:prstGeom>
          <a:noFill/>
          <a:ln/>
        </p:spPr>
        <p:txBody>
          <a:bodyPr wrap="square" rtlCol="0" anchor="t"/>
          <a:lstStyle/>
          <a:p>
            <a:pPr marL="0" indent="0">
              <a:lnSpc>
                <a:spcPts val="2734"/>
              </a:lnSpc>
              <a:buNone/>
            </a:pPr>
            <a:r>
              <a:rPr lang="en-US" sz="2187" dirty="0">
                <a:solidFill>
                  <a:srgbClr val="DCD7E5"/>
                </a:solidFill>
                <a:latin typeface="Montserrat" pitchFamily="34" charset="0"/>
                <a:ea typeface="Montserrat" pitchFamily="34" charset="-122"/>
                <a:cs typeface="Montserrat" pitchFamily="34" charset="-120"/>
              </a:rPr>
              <a:t>Gaussian Processes</a:t>
            </a:r>
            <a:endParaRPr lang="en-US" sz="2187" dirty="0"/>
          </a:p>
        </p:txBody>
      </p:sp>
      <p:sp>
        <p:nvSpPr>
          <p:cNvPr id="16" name="Text 13"/>
          <p:cNvSpPr/>
          <p:nvPr/>
        </p:nvSpPr>
        <p:spPr>
          <a:xfrm>
            <a:off x="9944576" y="3615333"/>
            <a:ext cx="2647950" cy="3909417"/>
          </a:xfrm>
          <a:prstGeom prst="rect">
            <a:avLst/>
          </a:prstGeom>
          <a:noFill/>
          <a:ln/>
        </p:spPr>
        <p:txBody>
          <a:bodyPr wrap="square" rtlCol="0" anchor="t"/>
          <a:lstStyle/>
          <a:p>
            <a:pPr marL="0" indent="0">
              <a:lnSpc>
                <a:spcPts val="2799"/>
              </a:lnSpc>
              <a:buNone/>
            </a:pPr>
            <a:r>
              <a:rPr lang="en-US" sz="1750" dirty="0">
                <a:solidFill>
                  <a:srgbClr val="DCD7E5"/>
                </a:solidFill>
                <a:latin typeface="Heebo" pitchFamily="34" charset="0"/>
                <a:ea typeface="Heebo" pitchFamily="34" charset="-122"/>
                <a:cs typeface="Heebo" pitchFamily="34" charset="-120"/>
              </a:rPr>
              <a:t>Gaussian Processes are a probabilistic approach to machine learning, providing not only predictions but also uncertainty estimates. This can be valuable in mobile price prediction, where understanding the confidence in forecasts is crucial.</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txBody>
          <a:bodyPr/>
          <a:lstStyle/>
          <a:p>
            <a:endParaRPr lang="en-IN"/>
          </a:p>
        </p:txBody>
      </p:sp>
      <p:sp>
        <p:nvSpPr>
          <p:cNvPr id="4" name="Text 1"/>
          <p:cNvSpPr/>
          <p:nvPr/>
        </p:nvSpPr>
        <p:spPr>
          <a:xfrm>
            <a:off x="2129195" y="601028"/>
            <a:ext cx="8483203" cy="682347"/>
          </a:xfrm>
          <a:prstGeom prst="rect">
            <a:avLst/>
          </a:prstGeom>
          <a:noFill/>
          <a:ln/>
        </p:spPr>
        <p:txBody>
          <a:bodyPr wrap="none" rtlCol="0" anchor="t"/>
          <a:lstStyle/>
          <a:p>
            <a:pPr marL="0" indent="0">
              <a:lnSpc>
                <a:spcPts val="5373"/>
              </a:lnSpc>
              <a:buNone/>
            </a:pPr>
            <a:r>
              <a:rPr lang="en-US" sz="4298" dirty="0">
                <a:solidFill>
                  <a:srgbClr val="F2F0F4"/>
                </a:solidFill>
                <a:latin typeface="Montserrat" pitchFamily="34" charset="0"/>
                <a:ea typeface="Montserrat" pitchFamily="34" charset="-122"/>
                <a:cs typeface="Montserrat" pitchFamily="34" charset="-120"/>
              </a:rPr>
              <a:t>Evaluating Model Performance</a:t>
            </a:r>
            <a:endParaRPr lang="en-US" sz="4298" dirty="0"/>
          </a:p>
        </p:txBody>
      </p:sp>
      <p:sp>
        <p:nvSpPr>
          <p:cNvPr id="5" name="Shape 2"/>
          <p:cNvSpPr/>
          <p:nvPr/>
        </p:nvSpPr>
        <p:spPr>
          <a:xfrm>
            <a:off x="2129195" y="1719977"/>
            <a:ext cx="5076825" cy="2670453"/>
          </a:xfrm>
          <a:prstGeom prst="roundRect">
            <a:avLst>
              <a:gd name="adj" fmla="val 3680"/>
            </a:avLst>
          </a:prstGeom>
          <a:solidFill>
            <a:srgbClr val="3C136D"/>
          </a:solidFill>
          <a:ln w="7620">
            <a:solidFill>
              <a:srgbClr val="552C86"/>
            </a:solidFill>
            <a:prstDash val="solid"/>
          </a:ln>
        </p:spPr>
        <p:txBody>
          <a:bodyPr/>
          <a:lstStyle/>
          <a:p>
            <a:endParaRPr lang="en-IN"/>
          </a:p>
        </p:txBody>
      </p:sp>
      <p:sp>
        <p:nvSpPr>
          <p:cNvPr id="6" name="Text 3"/>
          <p:cNvSpPr/>
          <p:nvPr/>
        </p:nvSpPr>
        <p:spPr>
          <a:xfrm>
            <a:off x="2355056" y="1945838"/>
            <a:ext cx="2729389" cy="341114"/>
          </a:xfrm>
          <a:prstGeom prst="rect">
            <a:avLst/>
          </a:prstGeom>
          <a:noFill/>
          <a:ln/>
        </p:spPr>
        <p:txBody>
          <a:bodyPr wrap="none" rtlCol="0" anchor="t"/>
          <a:lstStyle/>
          <a:p>
            <a:pPr marL="0" indent="0">
              <a:lnSpc>
                <a:spcPts val="2686"/>
              </a:lnSpc>
              <a:buNone/>
            </a:pPr>
            <a:r>
              <a:rPr lang="en-US" sz="2149" dirty="0">
                <a:solidFill>
                  <a:srgbClr val="DCD7E5"/>
                </a:solidFill>
                <a:latin typeface="Montserrat" pitchFamily="34" charset="0"/>
                <a:ea typeface="Montserrat" pitchFamily="34" charset="-122"/>
                <a:cs typeface="Montserrat" pitchFamily="34" charset="-120"/>
              </a:rPr>
              <a:t>Accuracy</a:t>
            </a:r>
            <a:endParaRPr lang="en-US" sz="2149" dirty="0"/>
          </a:p>
        </p:txBody>
      </p:sp>
      <p:sp>
        <p:nvSpPr>
          <p:cNvPr id="7" name="Text 4"/>
          <p:cNvSpPr/>
          <p:nvPr/>
        </p:nvSpPr>
        <p:spPr>
          <a:xfrm>
            <a:off x="2355056" y="2417921"/>
            <a:ext cx="4625102" cy="1746647"/>
          </a:xfrm>
          <a:prstGeom prst="rect">
            <a:avLst/>
          </a:prstGeom>
          <a:noFill/>
          <a:ln/>
        </p:spPr>
        <p:txBody>
          <a:bodyPr wrap="square" rtlCol="0" anchor="t"/>
          <a:lstStyle/>
          <a:p>
            <a:pPr marL="0" indent="0">
              <a:lnSpc>
                <a:spcPts val="2751"/>
              </a:lnSpc>
              <a:buNone/>
            </a:pPr>
            <a:r>
              <a:rPr lang="en-US" sz="1719" dirty="0">
                <a:solidFill>
                  <a:srgbClr val="DCD7E5"/>
                </a:solidFill>
                <a:latin typeface="Heebo" pitchFamily="34" charset="0"/>
                <a:ea typeface="Heebo" pitchFamily="34" charset="-122"/>
                <a:cs typeface="Heebo" pitchFamily="34" charset="-120"/>
              </a:rPr>
              <a:t>Accuracy is a fundamental metric for evaluating the performance of classification algorithms. It measures the proportion of correct predictions made by the model, providing a high-level assessment of its overall effectiveness.</a:t>
            </a:r>
            <a:endParaRPr lang="en-US" sz="1719" dirty="0"/>
          </a:p>
        </p:txBody>
      </p:sp>
      <p:sp>
        <p:nvSpPr>
          <p:cNvPr id="8" name="Shape 5"/>
          <p:cNvSpPr/>
          <p:nvPr/>
        </p:nvSpPr>
        <p:spPr>
          <a:xfrm>
            <a:off x="7424261" y="1719977"/>
            <a:ext cx="5076825" cy="2670453"/>
          </a:xfrm>
          <a:prstGeom prst="roundRect">
            <a:avLst>
              <a:gd name="adj" fmla="val 3680"/>
            </a:avLst>
          </a:prstGeom>
          <a:solidFill>
            <a:srgbClr val="3C136D"/>
          </a:solidFill>
          <a:ln w="7620">
            <a:solidFill>
              <a:srgbClr val="552C86"/>
            </a:solidFill>
            <a:prstDash val="solid"/>
          </a:ln>
        </p:spPr>
        <p:txBody>
          <a:bodyPr/>
          <a:lstStyle/>
          <a:p>
            <a:endParaRPr lang="en-IN"/>
          </a:p>
        </p:txBody>
      </p:sp>
      <p:sp>
        <p:nvSpPr>
          <p:cNvPr id="9" name="Text 6"/>
          <p:cNvSpPr/>
          <p:nvPr/>
        </p:nvSpPr>
        <p:spPr>
          <a:xfrm>
            <a:off x="7650123" y="1945838"/>
            <a:ext cx="2743319" cy="341114"/>
          </a:xfrm>
          <a:prstGeom prst="rect">
            <a:avLst/>
          </a:prstGeom>
          <a:noFill/>
          <a:ln/>
        </p:spPr>
        <p:txBody>
          <a:bodyPr wrap="none" rtlCol="0" anchor="t"/>
          <a:lstStyle/>
          <a:p>
            <a:pPr marL="0" indent="0">
              <a:lnSpc>
                <a:spcPts val="2686"/>
              </a:lnSpc>
              <a:buNone/>
            </a:pPr>
            <a:r>
              <a:rPr lang="en-US" sz="2149" dirty="0">
                <a:solidFill>
                  <a:srgbClr val="DCD7E5"/>
                </a:solidFill>
                <a:latin typeface="Montserrat" pitchFamily="34" charset="0"/>
                <a:ea typeface="Montserrat" pitchFamily="34" charset="-122"/>
                <a:cs typeface="Montserrat" pitchFamily="34" charset="-120"/>
              </a:rPr>
              <a:t>Precision and Recall</a:t>
            </a:r>
            <a:endParaRPr lang="en-US" sz="2149" dirty="0"/>
          </a:p>
        </p:txBody>
      </p:sp>
      <p:sp>
        <p:nvSpPr>
          <p:cNvPr id="10" name="Text 7"/>
          <p:cNvSpPr/>
          <p:nvPr/>
        </p:nvSpPr>
        <p:spPr>
          <a:xfrm>
            <a:off x="7650123" y="2417921"/>
            <a:ext cx="4625102" cy="1397318"/>
          </a:xfrm>
          <a:prstGeom prst="rect">
            <a:avLst/>
          </a:prstGeom>
          <a:noFill/>
          <a:ln/>
        </p:spPr>
        <p:txBody>
          <a:bodyPr wrap="square" rtlCol="0" anchor="t"/>
          <a:lstStyle/>
          <a:p>
            <a:pPr marL="0" indent="0">
              <a:lnSpc>
                <a:spcPts val="2751"/>
              </a:lnSpc>
              <a:buNone/>
            </a:pPr>
            <a:r>
              <a:rPr lang="en-US" sz="1719" dirty="0">
                <a:solidFill>
                  <a:srgbClr val="DCD7E5"/>
                </a:solidFill>
                <a:latin typeface="Heebo" pitchFamily="34" charset="0"/>
                <a:ea typeface="Heebo" pitchFamily="34" charset="-122"/>
                <a:cs typeface="Heebo" pitchFamily="34" charset="-120"/>
              </a:rPr>
              <a:t>Precision and recall are complementary metrics that provide insights into the model's ability to correctly identify positive instances and minimize false positives and false negatives.</a:t>
            </a:r>
            <a:endParaRPr lang="en-US" sz="1719" dirty="0"/>
          </a:p>
        </p:txBody>
      </p:sp>
      <p:sp>
        <p:nvSpPr>
          <p:cNvPr id="11" name="Shape 8"/>
          <p:cNvSpPr/>
          <p:nvPr/>
        </p:nvSpPr>
        <p:spPr>
          <a:xfrm>
            <a:off x="2129195" y="4608671"/>
            <a:ext cx="5076825" cy="3019782"/>
          </a:xfrm>
          <a:prstGeom prst="roundRect">
            <a:avLst>
              <a:gd name="adj" fmla="val 3254"/>
            </a:avLst>
          </a:prstGeom>
          <a:solidFill>
            <a:srgbClr val="3C136D"/>
          </a:solidFill>
          <a:ln w="7620">
            <a:solidFill>
              <a:srgbClr val="552C86"/>
            </a:solidFill>
            <a:prstDash val="solid"/>
          </a:ln>
        </p:spPr>
        <p:txBody>
          <a:bodyPr/>
          <a:lstStyle/>
          <a:p>
            <a:endParaRPr lang="en-IN"/>
          </a:p>
        </p:txBody>
      </p:sp>
      <p:sp>
        <p:nvSpPr>
          <p:cNvPr id="12" name="Text 9"/>
          <p:cNvSpPr/>
          <p:nvPr/>
        </p:nvSpPr>
        <p:spPr>
          <a:xfrm>
            <a:off x="2355056" y="4834533"/>
            <a:ext cx="2729389" cy="341114"/>
          </a:xfrm>
          <a:prstGeom prst="rect">
            <a:avLst/>
          </a:prstGeom>
          <a:noFill/>
          <a:ln/>
        </p:spPr>
        <p:txBody>
          <a:bodyPr wrap="none" rtlCol="0" anchor="t"/>
          <a:lstStyle/>
          <a:p>
            <a:pPr marL="0" indent="0">
              <a:lnSpc>
                <a:spcPts val="2686"/>
              </a:lnSpc>
              <a:buNone/>
            </a:pPr>
            <a:r>
              <a:rPr lang="en-US" sz="2149" dirty="0">
                <a:solidFill>
                  <a:srgbClr val="DCD7E5"/>
                </a:solidFill>
                <a:latin typeface="Montserrat" pitchFamily="34" charset="0"/>
                <a:ea typeface="Montserrat" pitchFamily="34" charset="-122"/>
                <a:cs typeface="Montserrat" pitchFamily="34" charset="-120"/>
              </a:rPr>
              <a:t>F1-Score</a:t>
            </a:r>
            <a:endParaRPr lang="en-US" sz="2149" dirty="0"/>
          </a:p>
        </p:txBody>
      </p:sp>
      <p:sp>
        <p:nvSpPr>
          <p:cNvPr id="13" name="Text 10"/>
          <p:cNvSpPr/>
          <p:nvPr/>
        </p:nvSpPr>
        <p:spPr>
          <a:xfrm>
            <a:off x="2355056" y="5306616"/>
            <a:ext cx="4625102" cy="1397318"/>
          </a:xfrm>
          <a:prstGeom prst="rect">
            <a:avLst/>
          </a:prstGeom>
          <a:noFill/>
          <a:ln/>
        </p:spPr>
        <p:txBody>
          <a:bodyPr wrap="square" rtlCol="0" anchor="t"/>
          <a:lstStyle/>
          <a:p>
            <a:pPr marL="0" indent="0">
              <a:lnSpc>
                <a:spcPts val="2751"/>
              </a:lnSpc>
              <a:buNone/>
            </a:pPr>
            <a:r>
              <a:rPr lang="en-US" sz="1719" dirty="0">
                <a:solidFill>
                  <a:srgbClr val="DCD7E5"/>
                </a:solidFill>
                <a:latin typeface="Heebo" pitchFamily="34" charset="0"/>
                <a:ea typeface="Heebo" pitchFamily="34" charset="-122"/>
                <a:cs typeface="Heebo" pitchFamily="34" charset="-120"/>
              </a:rPr>
              <a:t>The F1-score is a harmonic mean of precision and recall, offering a balanced measure of a model's performance that considers both type I and type II errors.</a:t>
            </a:r>
            <a:endParaRPr lang="en-US" sz="1719" dirty="0"/>
          </a:p>
        </p:txBody>
      </p:sp>
      <p:sp>
        <p:nvSpPr>
          <p:cNvPr id="14" name="Shape 11"/>
          <p:cNvSpPr/>
          <p:nvPr/>
        </p:nvSpPr>
        <p:spPr>
          <a:xfrm>
            <a:off x="7424261" y="4608671"/>
            <a:ext cx="5076825" cy="3019782"/>
          </a:xfrm>
          <a:prstGeom prst="roundRect">
            <a:avLst>
              <a:gd name="adj" fmla="val 3254"/>
            </a:avLst>
          </a:prstGeom>
          <a:solidFill>
            <a:srgbClr val="3C136D"/>
          </a:solidFill>
          <a:ln w="7620">
            <a:solidFill>
              <a:srgbClr val="552C86"/>
            </a:solidFill>
            <a:prstDash val="solid"/>
          </a:ln>
        </p:spPr>
        <p:txBody>
          <a:bodyPr/>
          <a:lstStyle/>
          <a:p>
            <a:endParaRPr lang="en-IN"/>
          </a:p>
        </p:txBody>
      </p:sp>
      <p:sp>
        <p:nvSpPr>
          <p:cNvPr id="15" name="Text 12"/>
          <p:cNvSpPr/>
          <p:nvPr/>
        </p:nvSpPr>
        <p:spPr>
          <a:xfrm>
            <a:off x="7650123" y="4834533"/>
            <a:ext cx="2729389" cy="341114"/>
          </a:xfrm>
          <a:prstGeom prst="rect">
            <a:avLst/>
          </a:prstGeom>
          <a:noFill/>
          <a:ln/>
        </p:spPr>
        <p:txBody>
          <a:bodyPr wrap="none" rtlCol="0" anchor="t"/>
          <a:lstStyle/>
          <a:p>
            <a:pPr marL="0" indent="0">
              <a:lnSpc>
                <a:spcPts val="2686"/>
              </a:lnSpc>
              <a:buNone/>
            </a:pPr>
            <a:r>
              <a:rPr lang="en-US" sz="2149" dirty="0">
                <a:solidFill>
                  <a:srgbClr val="DCD7E5"/>
                </a:solidFill>
                <a:latin typeface="Montserrat" pitchFamily="34" charset="0"/>
                <a:ea typeface="Montserrat" pitchFamily="34" charset="-122"/>
                <a:cs typeface="Montserrat" pitchFamily="34" charset="-120"/>
              </a:rPr>
              <a:t>ROC-AUC</a:t>
            </a:r>
            <a:endParaRPr lang="en-US" sz="2149" dirty="0"/>
          </a:p>
        </p:txBody>
      </p:sp>
      <p:sp>
        <p:nvSpPr>
          <p:cNvPr id="16" name="Text 13"/>
          <p:cNvSpPr/>
          <p:nvPr/>
        </p:nvSpPr>
        <p:spPr>
          <a:xfrm>
            <a:off x="7650123" y="5306616"/>
            <a:ext cx="4625102" cy="2095976"/>
          </a:xfrm>
          <a:prstGeom prst="rect">
            <a:avLst/>
          </a:prstGeom>
          <a:noFill/>
          <a:ln/>
        </p:spPr>
        <p:txBody>
          <a:bodyPr wrap="square" rtlCol="0" anchor="t"/>
          <a:lstStyle/>
          <a:p>
            <a:pPr marL="0" indent="0">
              <a:lnSpc>
                <a:spcPts val="2751"/>
              </a:lnSpc>
              <a:buNone/>
            </a:pPr>
            <a:r>
              <a:rPr lang="en-US" sz="1719" dirty="0">
                <a:solidFill>
                  <a:srgbClr val="DCD7E5"/>
                </a:solidFill>
                <a:latin typeface="Heebo" pitchFamily="34" charset="0"/>
                <a:ea typeface="Heebo" pitchFamily="34" charset="-122"/>
                <a:cs typeface="Heebo" pitchFamily="34" charset="-120"/>
              </a:rPr>
              <a:t>The area under the receiver operating characteristic (ROC) curve, or ROC-AUC, evaluates a model's ability to distinguish between different classes, providing a comprehensive assessment of its discriminative power.</a:t>
            </a:r>
            <a:endParaRPr lang="en-US" sz="1719"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txBody>
          <a:bodyPr/>
          <a:lstStyle/>
          <a:p>
            <a:endParaRPr lang="en-IN"/>
          </a:p>
        </p:txBody>
      </p:sp>
      <p:sp>
        <p:nvSpPr>
          <p:cNvPr id="4" name="Text 1"/>
          <p:cNvSpPr/>
          <p:nvPr/>
        </p:nvSpPr>
        <p:spPr>
          <a:xfrm>
            <a:off x="2037993" y="1139428"/>
            <a:ext cx="9841587" cy="694373"/>
          </a:xfrm>
          <a:prstGeom prst="rect">
            <a:avLst/>
          </a:prstGeom>
          <a:noFill/>
          <a:ln/>
        </p:spPr>
        <p:txBody>
          <a:bodyPr wrap="none" rtlCol="0" anchor="t"/>
          <a:lstStyle/>
          <a:p>
            <a:pPr marL="0" indent="0">
              <a:lnSpc>
                <a:spcPts val="5468"/>
              </a:lnSpc>
              <a:buNone/>
            </a:pPr>
            <a:r>
              <a:rPr lang="en-US" sz="4374" dirty="0">
                <a:solidFill>
                  <a:srgbClr val="F2F0F4"/>
                </a:solidFill>
                <a:latin typeface="Montserrat" pitchFamily="34" charset="0"/>
                <a:ea typeface="Montserrat" pitchFamily="34" charset="-122"/>
                <a:cs typeface="Montserrat" pitchFamily="34" charset="-120"/>
              </a:rPr>
              <a:t>Interpreting and Explaining Models</a:t>
            </a:r>
            <a:endParaRPr lang="en-US" sz="4374" dirty="0"/>
          </a:p>
        </p:txBody>
      </p:sp>
      <p:pic>
        <p:nvPicPr>
          <p:cNvPr id="5" name="Image 1" descr="preencoded.png"/>
          <p:cNvPicPr>
            <a:picLocks noChangeAspect="1"/>
          </p:cNvPicPr>
          <p:nvPr/>
        </p:nvPicPr>
        <p:blipFill>
          <a:blip r:embed="rId4"/>
          <a:stretch>
            <a:fillRect/>
          </a:stretch>
        </p:blipFill>
        <p:spPr>
          <a:xfrm>
            <a:off x="2037993" y="2278142"/>
            <a:ext cx="555427" cy="555427"/>
          </a:xfrm>
          <a:prstGeom prst="rect">
            <a:avLst/>
          </a:prstGeom>
        </p:spPr>
      </p:pic>
      <p:sp>
        <p:nvSpPr>
          <p:cNvPr id="6" name="Text 2"/>
          <p:cNvSpPr/>
          <p:nvPr/>
        </p:nvSpPr>
        <p:spPr>
          <a:xfrm>
            <a:off x="2037993" y="3055739"/>
            <a:ext cx="2388632" cy="347186"/>
          </a:xfrm>
          <a:prstGeom prst="rect">
            <a:avLst/>
          </a:prstGeom>
          <a:noFill/>
          <a:ln/>
        </p:spPr>
        <p:txBody>
          <a:bodyPr wrap="none" rtlCol="0" anchor="t"/>
          <a:lstStyle/>
          <a:p>
            <a:pPr marL="0" indent="0" algn="l">
              <a:lnSpc>
                <a:spcPts val="2734"/>
              </a:lnSpc>
              <a:buNone/>
            </a:pPr>
            <a:r>
              <a:rPr lang="en-US" sz="2187" dirty="0">
                <a:solidFill>
                  <a:srgbClr val="DCD7E5"/>
                </a:solidFill>
                <a:latin typeface="Montserrat" pitchFamily="34" charset="0"/>
                <a:ea typeface="Montserrat" pitchFamily="34" charset="-122"/>
                <a:cs typeface="Montserrat" pitchFamily="34" charset="-120"/>
              </a:rPr>
              <a:t>Interpretability</a:t>
            </a:r>
            <a:endParaRPr lang="en-US" sz="2187" dirty="0"/>
          </a:p>
        </p:txBody>
      </p:sp>
      <p:sp>
        <p:nvSpPr>
          <p:cNvPr id="7" name="Text 3"/>
          <p:cNvSpPr/>
          <p:nvPr/>
        </p:nvSpPr>
        <p:spPr>
          <a:xfrm>
            <a:off x="2037993" y="3536156"/>
            <a:ext cx="2388632" cy="3198614"/>
          </a:xfrm>
          <a:prstGeom prst="rect">
            <a:avLst/>
          </a:prstGeom>
          <a:noFill/>
          <a:ln/>
        </p:spPr>
        <p:txBody>
          <a:bodyPr wrap="square" rtlCol="0" anchor="t"/>
          <a:lstStyle/>
          <a:p>
            <a:pPr marL="0" indent="0" algn="l">
              <a:lnSpc>
                <a:spcPts val="2799"/>
              </a:lnSpc>
              <a:buNone/>
            </a:pPr>
            <a:r>
              <a:rPr lang="en-US" sz="1750" dirty="0">
                <a:solidFill>
                  <a:srgbClr val="DCD7E5"/>
                </a:solidFill>
                <a:latin typeface="Heebo" pitchFamily="34" charset="0"/>
                <a:ea typeface="Heebo" pitchFamily="34" charset="-122"/>
                <a:cs typeface="Heebo" pitchFamily="34" charset="-120"/>
              </a:rPr>
              <a:t>The ability to understand and explain the decision-making process of a model is crucial, particularly in domains where transparency and accountability are paramount.</a:t>
            </a:r>
            <a:endParaRPr lang="en-US" sz="1750" dirty="0"/>
          </a:p>
        </p:txBody>
      </p:sp>
      <p:pic>
        <p:nvPicPr>
          <p:cNvPr id="8" name="Image 2" descr="preencoded.png"/>
          <p:cNvPicPr>
            <a:picLocks noChangeAspect="1"/>
          </p:cNvPicPr>
          <p:nvPr/>
        </p:nvPicPr>
        <p:blipFill>
          <a:blip r:embed="rId5"/>
          <a:stretch>
            <a:fillRect/>
          </a:stretch>
        </p:blipFill>
        <p:spPr>
          <a:xfrm>
            <a:off x="4759881" y="2278142"/>
            <a:ext cx="555427" cy="555427"/>
          </a:xfrm>
          <a:prstGeom prst="rect">
            <a:avLst/>
          </a:prstGeom>
        </p:spPr>
      </p:pic>
      <p:sp>
        <p:nvSpPr>
          <p:cNvPr id="9" name="Text 4"/>
          <p:cNvSpPr/>
          <p:nvPr/>
        </p:nvSpPr>
        <p:spPr>
          <a:xfrm>
            <a:off x="4759881" y="3055739"/>
            <a:ext cx="2388632" cy="347186"/>
          </a:xfrm>
          <a:prstGeom prst="rect">
            <a:avLst/>
          </a:prstGeom>
          <a:noFill/>
          <a:ln/>
        </p:spPr>
        <p:txBody>
          <a:bodyPr wrap="none" rtlCol="0" anchor="t"/>
          <a:lstStyle/>
          <a:p>
            <a:pPr marL="0" indent="0" algn="l">
              <a:lnSpc>
                <a:spcPts val="2734"/>
              </a:lnSpc>
              <a:buNone/>
            </a:pPr>
            <a:r>
              <a:rPr lang="en-US" sz="2187" dirty="0">
                <a:solidFill>
                  <a:srgbClr val="DCD7E5"/>
                </a:solidFill>
                <a:latin typeface="Montserrat" pitchFamily="34" charset="0"/>
                <a:ea typeface="Montserrat" pitchFamily="34" charset="-122"/>
                <a:cs typeface="Montserrat" pitchFamily="34" charset="-120"/>
              </a:rPr>
              <a:t>Scalability</a:t>
            </a:r>
            <a:endParaRPr lang="en-US" sz="2187" dirty="0"/>
          </a:p>
        </p:txBody>
      </p:sp>
      <p:sp>
        <p:nvSpPr>
          <p:cNvPr id="10" name="Text 5"/>
          <p:cNvSpPr/>
          <p:nvPr/>
        </p:nvSpPr>
        <p:spPr>
          <a:xfrm>
            <a:off x="4759881" y="3536156"/>
            <a:ext cx="2388632" cy="3554016"/>
          </a:xfrm>
          <a:prstGeom prst="rect">
            <a:avLst/>
          </a:prstGeom>
          <a:noFill/>
          <a:ln/>
        </p:spPr>
        <p:txBody>
          <a:bodyPr wrap="square" rtlCol="0" anchor="t"/>
          <a:lstStyle/>
          <a:p>
            <a:pPr marL="0" indent="0" algn="l">
              <a:lnSpc>
                <a:spcPts val="2799"/>
              </a:lnSpc>
              <a:buNone/>
            </a:pPr>
            <a:r>
              <a:rPr lang="en-US" sz="1750" dirty="0">
                <a:solidFill>
                  <a:srgbClr val="DCD7E5"/>
                </a:solidFill>
                <a:latin typeface="Heebo" pitchFamily="34" charset="0"/>
                <a:ea typeface="Heebo" pitchFamily="34" charset="-122"/>
                <a:cs typeface="Heebo" pitchFamily="34" charset="-120"/>
              </a:rPr>
              <a:t>As the volume and complexity of mobile phone data continue to grow, the scalability of classification algorithms becomes increasingly important, ensuring efficient and reliable performance on large-scale datasets.</a:t>
            </a:r>
            <a:endParaRPr lang="en-US" sz="1750" dirty="0"/>
          </a:p>
        </p:txBody>
      </p:sp>
      <p:pic>
        <p:nvPicPr>
          <p:cNvPr id="11" name="Image 3" descr="preencoded.png"/>
          <p:cNvPicPr>
            <a:picLocks noChangeAspect="1"/>
          </p:cNvPicPr>
          <p:nvPr/>
        </p:nvPicPr>
        <p:blipFill>
          <a:blip r:embed="rId6"/>
          <a:stretch>
            <a:fillRect/>
          </a:stretch>
        </p:blipFill>
        <p:spPr>
          <a:xfrm>
            <a:off x="7481768" y="2278142"/>
            <a:ext cx="555427" cy="555427"/>
          </a:xfrm>
          <a:prstGeom prst="rect">
            <a:avLst/>
          </a:prstGeom>
        </p:spPr>
      </p:pic>
      <p:sp>
        <p:nvSpPr>
          <p:cNvPr id="12" name="Text 6"/>
          <p:cNvSpPr/>
          <p:nvPr/>
        </p:nvSpPr>
        <p:spPr>
          <a:xfrm>
            <a:off x="7481768" y="3055739"/>
            <a:ext cx="2388632" cy="347186"/>
          </a:xfrm>
          <a:prstGeom prst="rect">
            <a:avLst/>
          </a:prstGeom>
          <a:noFill/>
          <a:ln/>
        </p:spPr>
        <p:txBody>
          <a:bodyPr wrap="none" rtlCol="0" anchor="t"/>
          <a:lstStyle/>
          <a:p>
            <a:pPr marL="0" indent="0" algn="l">
              <a:lnSpc>
                <a:spcPts val="2734"/>
              </a:lnSpc>
              <a:buNone/>
            </a:pPr>
            <a:r>
              <a:rPr lang="en-US" sz="2187" dirty="0">
                <a:solidFill>
                  <a:srgbClr val="DCD7E5"/>
                </a:solidFill>
                <a:latin typeface="Montserrat" pitchFamily="34" charset="0"/>
                <a:ea typeface="Montserrat" pitchFamily="34" charset="-122"/>
                <a:cs typeface="Montserrat" pitchFamily="34" charset="-120"/>
              </a:rPr>
              <a:t>Robustness</a:t>
            </a:r>
            <a:endParaRPr lang="en-US" sz="2187" dirty="0"/>
          </a:p>
        </p:txBody>
      </p:sp>
      <p:sp>
        <p:nvSpPr>
          <p:cNvPr id="13" name="Text 7"/>
          <p:cNvSpPr/>
          <p:nvPr/>
        </p:nvSpPr>
        <p:spPr>
          <a:xfrm>
            <a:off x="7481768" y="3536156"/>
            <a:ext cx="2388632" cy="3198614"/>
          </a:xfrm>
          <a:prstGeom prst="rect">
            <a:avLst/>
          </a:prstGeom>
          <a:noFill/>
          <a:ln/>
        </p:spPr>
        <p:txBody>
          <a:bodyPr wrap="square" rtlCol="0" anchor="t"/>
          <a:lstStyle/>
          <a:p>
            <a:pPr marL="0" indent="0" algn="l">
              <a:lnSpc>
                <a:spcPts val="2799"/>
              </a:lnSpc>
              <a:buNone/>
            </a:pPr>
            <a:r>
              <a:rPr lang="en-US" sz="1750" dirty="0">
                <a:solidFill>
                  <a:srgbClr val="DCD7E5"/>
                </a:solidFill>
                <a:latin typeface="Heebo" pitchFamily="34" charset="0"/>
                <a:ea typeface="Heebo" pitchFamily="34" charset="-122"/>
                <a:cs typeface="Heebo" pitchFamily="34" charset="-120"/>
              </a:rPr>
              <a:t>The ability of a model to maintain its performance in the face of noisy, incomplete, or adversarial data is a key consideration, particularly in real-world mobile price prediction scenarios.</a:t>
            </a:r>
            <a:endParaRPr lang="en-US" sz="1750" dirty="0"/>
          </a:p>
        </p:txBody>
      </p:sp>
      <p:pic>
        <p:nvPicPr>
          <p:cNvPr id="14" name="Image 4" descr="preencoded.png"/>
          <p:cNvPicPr>
            <a:picLocks noChangeAspect="1"/>
          </p:cNvPicPr>
          <p:nvPr/>
        </p:nvPicPr>
        <p:blipFill>
          <a:blip r:embed="rId7"/>
          <a:stretch>
            <a:fillRect/>
          </a:stretch>
        </p:blipFill>
        <p:spPr>
          <a:xfrm>
            <a:off x="10203656" y="2278142"/>
            <a:ext cx="555427" cy="555427"/>
          </a:xfrm>
          <a:prstGeom prst="rect">
            <a:avLst/>
          </a:prstGeom>
        </p:spPr>
      </p:pic>
      <p:sp>
        <p:nvSpPr>
          <p:cNvPr id="15" name="Text 8"/>
          <p:cNvSpPr/>
          <p:nvPr/>
        </p:nvSpPr>
        <p:spPr>
          <a:xfrm>
            <a:off x="10203656" y="3055739"/>
            <a:ext cx="2388751" cy="347186"/>
          </a:xfrm>
          <a:prstGeom prst="rect">
            <a:avLst/>
          </a:prstGeom>
          <a:noFill/>
          <a:ln/>
        </p:spPr>
        <p:txBody>
          <a:bodyPr wrap="none" rtlCol="0" anchor="t"/>
          <a:lstStyle/>
          <a:p>
            <a:pPr marL="0" indent="0" algn="l">
              <a:lnSpc>
                <a:spcPts val="2734"/>
              </a:lnSpc>
              <a:buNone/>
            </a:pPr>
            <a:r>
              <a:rPr lang="en-US" sz="2187" dirty="0">
                <a:solidFill>
                  <a:srgbClr val="DCD7E5"/>
                </a:solidFill>
                <a:latin typeface="Montserrat" pitchFamily="34" charset="0"/>
                <a:ea typeface="Montserrat" pitchFamily="34" charset="-122"/>
                <a:cs typeface="Montserrat" pitchFamily="34" charset="-120"/>
              </a:rPr>
              <a:t>Generalization</a:t>
            </a:r>
            <a:endParaRPr lang="en-US" sz="2187" dirty="0"/>
          </a:p>
        </p:txBody>
      </p:sp>
      <p:sp>
        <p:nvSpPr>
          <p:cNvPr id="16" name="Text 9"/>
          <p:cNvSpPr/>
          <p:nvPr/>
        </p:nvSpPr>
        <p:spPr>
          <a:xfrm>
            <a:off x="10203656" y="3536156"/>
            <a:ext cx="2388751" cy="3198614"/>
          </a:xfrm>
          <a:prstGeom prst="rect">
            <a:avLst/>
          </a:prstGeom>
          <a:noFill/>
          <a:ln/>
        </p:spPr>
        <p:txBody>
          <a:bodyPr wrap="square" rtlCol="0" anchor="t"/>
          <a:lstStyle/>
          <a:p>
            <a:pPr marL="0" indent="0" algn="l">
              <a:lnSpc>
                <a:spcPts val="2799"/>
              </a:lnSpc>
              <a:buNone/>
            </a:pPr>
            <a:r>
              <a:rPr lang="en-US" sz="1750" dirty="0">
                <a:solidFill>
                  <a:srgbClr val="DCD7E5"/>
                </a:solidFill>
                <a:latin typeface="Heebo" pitchFamily="34" charset="0"/>
                <a:ea typeface="Heebo" pitchFamily="34" charset="-122"/>
                <a:cs typeface="Heebo" pitchFamily="34" charset="-120"/>
              </a:rPr>
              <a:t>The capacity of a model to perform well on unseen data, beyond the training set, is essential for ensuring the reliability and practical applicability of mobile price prediction systems.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txBody>
          <a:bodyPr/>
          <a:lstStyle/>
          <a:p>
            <a:endParaRPr lang="en-IN"/>
          </a:p>
        </p:txBody>
      </p:sp>
      <p:pic>
        <p:nvPicPr>
          <p:cNvPr id="4" name="Image 1" descr="preencoded.png"/>
          <p:cNvPicPr>
            <a:picLocks noChangeAspect="1"/>
          </p:cNvPicPr>
          <p:nvPr/>
        </p:nvPicPr>
        <p:blipFill>
          <a:blip r:embed="rId4"/>
          <a:stretch>
            <a:fillRect/>
          </a:stretch>
        </p:blipFill>
        <p:spPr>
          <a:xfrm>
            <a:off x="-7620" y="0"/>
            <a:ext cx="3657600" cy="8229600"/>
          </a:xfrm>
          <a:prstGeom prst="rect">
            <a:avLst/>
          </a:prstGeom>
        </p:spPr>
      </p:pic>
      <p:sp>
        <p:nvSpPr>
          <p:cNvPr id="5" name="Text 1"/>
          <p:cNvSpPr/>
          <p:nvPr/>
        </p:nvSpPr>
        <p:spPr>
          <a:xfrm>
            <a:off x="4456748" y="757595"/>
            <a:ext cx="7787402" cy="665917"/>
          </a:xfrm>
          <a:prstGeom prst="rect">
            <a:avLst/>
          </a:prstGeom>
          <a:noFill/>
          <a:ln/>
        </p:spPr>
        <p:txBody>
          <a:bodyPr wrap="none" rtlCol="0" anchor="t"/>
          <a:lstStyle/>
          <a:p>
            <a:pPr marL="0" indent="0">
              <a:lnSpc>
                <a:spcPts val="5244"/>
              </a:lnSpc>
              <a:buNone/>
            </a:pPr>
            <a:r>
              <a:rPr lang="en-US" sz="4195" dirty="0">
                <a:solidFill>
                  <a:srgbClr val="F2F0F4"/>
                </a:solidFill>
                <a:latin typeface="Montserrat" pitchFamily="34" charset="0"/>
                <a:ea typeface="Montserrat" pitchFamily="34" charset="-122"/>
                <a:cs typeface="Montserrat" pitchFamily="34" charset="-120"/>
              </a:rPr>
              <a:t>Bridging Theory and Practice</a:t>
            </a:r>
            <a:endParaRPr lang="en-US" sz="4195" dirty="0"/>
          </a:p>
        </p:txBody>
      </p:sp>
      <p:pic>
        <p:nvPicPr>
          <p:cNvPr id="6" name="Image 2" descr="preencoded.png"/>
          <p:cNvPicPr>
            <a:picLocks noChangeAspect="1"/>
          </p:cNvPicPr>
          <p:nvPr/>
        </p:nvPicPr>
        <p:blipFill>
          <a:blip r:embed="rId5"/>
          <a:stretch>
            <a:fillRect/>
          </a:stretch>
        </p:blipFill>
        <p:spPr>
          <a:xfrm>
            <a:off x="4456748" y="1743075"/>
            <a:ext cx="1065490" cy="1909643"/>
          </a:xfrm>
          <a:prstGeom prst="rect">
            <a:avLst/>
          </a:prstGeom>
        </p:spPr>
      </p:pic>
      <p:sp>
        <p:nvSpPr>
          <p:cNvPr id="7" name="Text 2"/>
          <p:cNvSpPr/>
          <p:nvPr/>
        </p:nvSpPr>
        <p:spPr>
          <a:xfrm>
            <a:off x="5841802" y="1956078"/>
            <a:ext cx="2663904" cy="332899"/>
          </a:xfrm>
          <a:prstGeom prst="rect">
            <a:avLst/>
          </a:prstGeom>
          <a:noFill/>
          <a:ln/>
        </p:spPr>
        <p:txBody>
          <a:bodyPr wrap="none" rtlCol="0" anchor="t"/>
          <a:lstStyle/>
          <a:p>
            <a:pPr marL="0" indent="0" algn="l">
              <a:lnSpc>
                <a:spcPts val="2622"/>
              </a:lnSpc>
              <a:buNone/>
            </a:pPr>
            <a:r>
              <a:rPr lang="en-US" sz="2098" dirty="0">
                <a:solidFill>
                  <a:srgbClr val="DCD7E5"/>
                </a:solidFill>
                <a:latin typeface="Montserrat" pitchFamily="34" charset="0"/>
                <a:ea typeface="Montserrat" pitchFamily="34" charset="-122"/>
                <a:cs typeface="Montserrat" pitchFamily="34" charset="-120"/>
              </a:rPr>
              <a:t>Data Preprocessing</a:t>
            </a:r>
            <a:endParaRPr lang="en-US" sz="2098" dirty="0"/>
          </a:p>
        </p:txBody>
      </p:sp>
      <p:sp>
        <p:nvSpPr>
          <p:cNvPr id="8" name="Text 3"/>
          <p:cNvSpPr/>
          <p:nvPr/>
        </p:nvSpPr>
        <p:spPr>
          <a:xfrm>
            <a:off x="5841802" y="2416731"/>
            <a:ext cx="7989451" cy="1022985"/>
          </a:xfrm>
          <a:prstGeom prst="rect">
            <a:avLst/>
          </a:prstGeom>
          <a:noFill/>
          <a:ln/>
        </p:spPr>
        <p:txBody>
          <a:bodyPr wrap="square" rtlCol="0" anchor="t"/>
          <a:lstStyle/>
          <a:p>
            <a:pPr marL="0" indent="0" algn="l">
              <a:lnSpc>
                <a:spcPts val="2685"/>
              </a:lnSpc>
              <a:buNone/>
            </a:pPr>
            <a:r>
              <a:rPr lang="en-US" sz="1678" dirty="0">
                <a:solidFill>
                  <a:srgbClr val="DCD7E5"/>
                </a:solidFill>
                <a:latin typeface="Heebo" pitchFamily="34" charset="0"/>
                <a:ea typeface="Heebo" pitchFamily="34" charset="-122"/>
                <a:cs typeface="Heebo" pitchFamily="34" charset="-120"/>
              </a:rPr>
              <a:t>Careful data preprocessing, including handling missing values, outlier detection, and feature engineering, is a crucial step in ensuring the quality and reliability of the input data for mobile price prediction models.</a:t>
            </a:r>
            <a:endParaRPr lang="en-US" sz="1678" dirty="0"/>
          </a:p>
        </p:txBody>
      </p:sp>
      <p:pic>
        <p:nvPicPr>
          <p:cNvPr id="9" name="Image 3" descr="preencoded.png"/>
          <p:cNvPicPr>
            <a:picLocks noChangeAspect="1"/>
          </p:cNvPicPr>
          <p:nvPr/>
        </p:nvPicPr>
        <p:blipFill>
          <a:blip r:embed="rId6"/>
          <a:stretch>
            <a:fillRect/>
          </a:stretch>
        </p:blipFill>
        <p:spPr>
          <a:xfrm>
            <a:off x="4456748" y="3652718"/>
            <a:ext cx="1065490" cy="1909643"/>
          </a:xfrm>
          <a:prstGeom prst="rect">
            <a:avLst/>
          </a:prstGeom>
        </p:spPr>
      </p:pic>
      <p:sp>
        <p:nvSpPr>
          <p:cNvPr id="10" name="Text 4"/>
          <p:cNvSpPr/>
          <p:nvPr/>
        </p:nvSpPr>
        <p:spPr>
          <a:xfrm>
            <a:off x="5841802" y="3865721"/>
            <a:ext cx="2663904" cy="332899"/>
          </a:xfrm>
          <a:prstGeom prst="rect">
            <a:avLst/>
          </a:prstGeom>
          <a:noFill/>
          <a:ln/>
        </p:spPr>
        <p:txBody>
          <a:bodyPr wrap="none" rtlCol="0" anchor="t"/>
          <a:lstStyle/>
          <a:p>
            <a:pPr marL="0" indent="0" algn="l">
              <a:lnSpc>
                <a:spcPts val="2622"/>
              </a:lnSpc>
              <a:buNone/>
            </a:pPr>
            <a:r>
              <a:rPr lang="en-US" sz="2098" dirty="0">
                <a:solidFill>
                  <a:srgbClr val="DCD7E5"/>
                </a:solidFill>
                <a:latin typeface="Montserrat" pitchFamily="34" charset="0"/>
                <a:ea typeface="Montserrat" pitchFamily="34" charset="-122"/>
                <a:cs typeface="Montserrat" pitchFamily="34" charset="-120"/>
              </a:rPr>
              <a:t>Model Selection</a:t>
            </a:r>
            <a:endParaRPr lang="en-US" sz="2098" dirty="0"/>
          </a:p>
        </p:txBody>
      </p:sp>
      <p:sp>
        <p:nvSpPr>
          <p:cNvPr id="11" name="Text 5"/>
          <p:cNvSpPr/>
          <p:nvPr/>
        </p:nvSpPr>
        <p:spPr>
          <a:xfrm>
            <a:off x="5841802" y="4326374"/>
            <a:ext cx="7989451" cy="1022985"/>
          </a:xfrm>
          <a:prstGeom prst="rect">
            <a:avLst/>
          </a:prstGeom>
          <a:noFill/>
          <a:ln/>
        </p:spPr>
        <p:txBody>
          <a:bodyPr wrap="square" rtlCol="0" anchor="t"/>
          <a:lstStyle/>
          <a:p>
            <a:pPr marL="0" indent="0" algn="l">
              <a:lnSpc>
                <a:spcPts val="2685"/>
              </a:lnSpc>
              <a:buNone/>
            </a:pPr>
            <a:r>
              <a:rPr lang="en-US" sz="1678" dirty="0">
                <a:solidFill>
                  <a:srgbClr val="DCD7E5"/>
                </a:solidFill>
                <a:latin typeface="Heebo" pitchFamily="34" charset="0"/>
                <a:ea typeface="Heebo" pitchFamily="34" charset="-122"/>
                <a:cs typeface="Heebo" pitchFamily="34" charset="-120"/>
              </a:rPr>
              <a:t>Selecting the appropriate classification algorithm for a given mobile price prediction task requires a deep understanding of the strengths, weaknesses, and trade-offs of various techniques, as well as the characteristics of the dataset at hand.</a:t>
            </a:r>
            <a:endParaRPr lang="en-US" sz="1678" dirty="0"/>
          </a:p>
        </p:txBody>
      </p:sp>
      <p:pic>
        <p:nvPicPr>
          <p:cNvPr id="12" name="Image 4" descr="preencoded.png"/>
          <p:cNvPicPr>
            <a:picLocks noChangeAspect="1"/>
          </p:cNvPicPr>
          <p:nvPr/>
        </p:nvPicPr>
        <p:blipFill>
          <a:blip r:embed="rId7"/>
          <a:stretch>
            <a:fillRect/>
          </a:stretch>
        </p:blipFill>
        <p:spPr>
          <a:xfrm>
            <a:off x="4456748" y="5562362"/>
            <a:ext cx="1065490" cy="1909643"/>
          </a:xfrm>
          <a:prstGeom prst="rect">
            <a:avLst/>
          </a:prstGeom>
        </p:spPr>
      </p:pic>
      <p:sp>
        <p:nvSpPr>
          <p:cNvPr id="13" name="Text 6"/>
          <p:cNvSpPr/>
          <p:nvPr/>
        </p:nvSpPr>
        <p:spPr>
          <a:xfrm>
            <a:off x="5841802" y="5775365"/>
            <a:ext cx="3221712" cy="332899"/>
          </a:xfrm>
          <a:prstGeom prst="rect">
            <a:avLst/>
          </a:prstGeom>
          <a:noFill/>
          <a:ln/>
        </p:spPr>
        <p:txBody>
          <a:bodyPr wrap="none" rtlCol="0" anchor="t"/>
          <a:lstStyle/>
          <a:p>
            <a:pPr marL="0" indent="0" algn="l">
              <a:lnSpc>
                <a:spcPts val="2622"/>
              </a:lnSpc>
              <a:buNone/>
            </a:pPr>
            <a:r>
              <a:rPr lang="en-US" sz="2098" dirty="0">
                <a:solidFill>
                  <a:srgbClr val="DCD7E5"/>
                </a:solidFill>
                <a:latin typeface="Montserrat" pitchFamily="34" charset="0"/>
                <a:ea typeface="Montserrat" pitchFamily="34" charset="-122"/>
                <a:cs typeface="Montserrat" pitchFamily="34" charset="-120"/>
              </a:rPr>
              <a:t>Hyperparameter Tuning</a:t>
            </a:r>
            <a:endParaRPr lang="en-US" sz="2098" dirty="0"/>
          </a:p>
        </p:txBody>
      </p:sp>
      <p:sp>
        <p:nvSpPr>
          <p:cNvPr id="14" name="Text 7"/>
          <p:cNvSpPr/>
          <p:nvPr/>
        </p:nvSpPr>
        <p:spPr>
          <a:xfrm>
            <a:off x="5841802" y="6236018"/>
            <a:ext cx="7989451" cy="1022985"/>
          </a:xfrm>
          <a:prstGeom prst="rect">
            <a:avLst/>
          </a:prstGeom>
          <a:noFill/>
          <a:ln/>
        </p:spPr>
        <p:txBody>
          <a:bodyPr wrap="square" rtlCol="0" anchor="t"/>
          <a:lstStyle/>
          <a:p>
            <a:pPr marL="0" indent="0" algn="l">
              <a:lnSpc>
                <a:spcPts val="2685"/>
              </a:lnSpc>
              <a:buNone/>
            </a:pPr>
            <a:r>
              <a:rPr lang="en-US" sz="1678" dirty="0">
                <a:solidFill>
                  <a:srgbClr val="DCD7E5"/>
                </a:solidFill>
                <a:latin typeface="Heebo" pitchFamily="34" charset="0"/>
                <a:ea typeface="Heebo" pitchFamily="34" charset="-122"/>
                <a:cs typeface="Heebo" pitchFamily="34" charset="-120"/>
              </a:rPr>
              <a:t>Optimizing the hyperparameters of classification models, such as the learning rate, regularization, and the number of trees in ensemble methods, can significantly impact their performance and generalization capabilities.</a:t>
            </a:r>
            <a:endParaRPr lang="en-US" sz="1678"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42578"/>
          </a:xfrm>
          <a:prstGeom prst="rect">
            <a:avLst/>
          </a:prstGeom>
          <a:solidFill>
            <a:srgbClr val="0D0A2C">
              <a:alpha val="75000"/>
            </a:srgbClr>
          </a:solidFill>
          <a:ln/>
        </p:spPr>
        <p:txBody>
          <a:bodyPr/>
          <a:lstStyle/>
          <a:p>
            <a:endParaRPr lang="en-IN"/>
          </a:p>
        </p:txBody>
      </p:sp>
      <p:sp>
        <p:nvSpPr>
          <p:cNvPr id="4" name="Text 1"/>
          <p:cNvSpPr/>
          <p:nvPr/>
        </p:nvSpPr>
        <p:spPr>
          <a:xfrm>
            <a:off x="2755702" y="527923"/>
            <a:ext cx="9118997" cy="1199674"/>
          </a:xfrm>
          <a:prstGeom prst="rect">
            <a:avLst/>
          </a:prstGeom>
          <a:noFill/>
          <a:ln/>
        </p:spPr>
        <p:txBody>
          <a:bodyPr wrap="square" rtlCol="0" anchor="t"/>
          <a:lstStyle/>
          <a:p>
            <a:pPr marL="0" indent="0">
              <a:lnSpc>
                <a:spcPts val="4724"/>
              </a:lnSpc>
              <a:buNone/>
            </a:pPr>
            <a:r>
              <a:rPr lang="en-US" sz="3779" dirty="0">
                <a:solidFill>
                  <a:srgbClr val="F2F0F4"/>
                </a:solidFill>
                <a:latin typeface="Montserrat" pitchFamily="34" charset="0"/>
                <a:ea typeface="Montserrat" pitchFamily="34" charset="-122"/>
                <a:cs typeface="Montserrat" pitchFamily="34" charset="-120"/>
              </a:rPr>
              <a:t>Real-World Applications and Implications</a:t>
            </a:r>
            <a:endParaRPr lang="en-US" sz="3779" dirty="0"/>
          </a:p>
        </p:txBody>
      </p:sp>
      <p:sp>
        <p:nvSpPr>
          <p:cNvPr id="5" name="Shape 2"/>
          <p:cNvSpPr/>
          <p:nvPr/>
        </p:nvSpPr>
        <p:spPr>
          <a:xfrm>
            <a:off x="2755702" y="2111454"/>
            <a:ext cx="9118997" cy="5603200"/>
          </a:xfrm>
          <a:prstGeom prst="roundRect">
            <a:avLst>
              <a:gd name="adj" fmla="val 1542"/>
            </a:avLst>
          </a:prstGeom>
          <a:noFill/>
          <a:ln w="7620">
            <a:solidFill>
              <a:srgbClr val="FFFFFF">
                <a:alpha val="24000"/>
              </a:srgbClr>
            </a:solidFill>
            <a:prstDash val="solid"/>
          </a:ln>
        </p:spPr>
        <p:txBody>
          <a:bodyPr/>
          <a:lstStyle/>
          <a:p>
            <a:endParaRPr lang="en-IN"/>
          </a:p>
        </p:txBody>
      </p:sp>
      <p:sp>
        <p:nvSpPr>
          <p:cNvPr id="6" name="Shape 3"/>
          <p:cNvSpPr/>
          <p:nvPr/>
        </p:nvSpPr>
        <p:spPr>
          <a:xfrm>
            <a:off x="2763322" y="2119074"/>
            <a:ext cx="9103757" cy="1473756"/>
          </a:xfrm>
          <a:prstGeom prst="rect">
            <a:avLst/>
          </a:prstGeom>
          <a:solidFill>
            <a:srgbClr val="FFFFFF">
              <a:alpha val="4000"/>
            </a:srgbClr>
          </a:solidFill>
          <a:ln/>
        </p:spPr>
        <p:txBody>
          <a:bodyPr/>
          <a:lstStyle/>
          <a:p>
            <a:endParaRPr lang="en-IN"/>
          </a:p>
        </p:txBody>
      </p:sp>
      <p:sp>
        <p:nvSpPr>
          <p:cNvPr id="7" name="Text 4"/>
          <p:cNvSpPr/>
          <p:nvPr/>
        </p:nvSpPr>
        <p:spPr>
          <a:xfrm>
            <a:off x="2955250" y="2241828"/>
            <a:ext cx="4164211" cy="307062"/>
          </a:xfrm>
          <a:prstGeom prst="rect">
            <a:avLst/>
          </a:prstGeom>
          <a:noFill/>
          <a:ln/>
        </p:spPr>
        <p:txBody>
          <a:bodyPr wrap="none" rtlCol="0" anchor="t"/>
          <a:lstStyle/>
          <a:p>
            <a:pPr marL="0" indent="0">
              <a:lnSpc>
                <a:spcPts val="2419"/>
              </a:lnSpc>
              <a:buNone/>
            </a:pPr>
            <a:r>
              <a:rPr lang="en-US" sz="1512" dirty="0">
                <a:solidFill>
                  <a:srgbClr val="DCD7E5"/>
                </a:solidFill>
                <a:latin typeface="Heebo" pitchFamily="34" charset="0"/>
                <a:ea typeface="Heebo" pitchFamily="34" charset="-122"/>
                <a:cs typeface="Heebo" pitchFamily="34" charset="-120"/>
              </a:rPr>
              <a:t>E-commerce Platforms</a:t>
            </a:r>
            <a:endParaRPr lang="en-US" sz="1512" dirty="0"/>
          </a:p>
        </p:txBody>
      </p:sp>
      <p:sp>
        <p:nvSpPr>
          <p:cNvPr id="8" name="Text 5"/>
          <p:cNvSpPr/>
          <p:nvPr/>
        </p:nvSpPr>
        <p:spPr>
          <a:xfrm>
            <a:off x="7510939" y="2241828"/>
            <a:ext cx="4164211" cy="1228249"/>
          </a:xfrm>
          <a:prstGeom prst="rect">
            <a:avLst/>
          </a:prstGeom>
          <a:noFill/>
          <a:ln/>
        </p:spPr>
        <p:txBody>
          <a:bodyPr wrap="square" rtlCol="0" anchor="t"/>
          <a:lstStyle/>
          <a:p>
            <a:pPr marL="0" indent="0">
              <a:lnSpc>
                <a:spcPts val="2419"/>
              </a:lnSpc>
              <a:buNone/>
            </a:pPr>
            <a:r>
              <a:rPr lang="en-US" sz="1512" dirty="0">
                <a:solidFill>
                  <a:srgbClr val="DCD7E5"/>
                </a:solidFill>
                <a:latin typeface="Heebo" pitchFamily="34" charset="0"/>
                <a:ea typeface="Heebo" pitchFamily="34" charset="-122"/>
                <a:cs typeface="Heebo" pitchFamily="34" charset="-120"/>
              </a:rPr>
              <a:t>Leveraging mobile price prediction models to adaptively adjust pricing strategies, considering factors like demand, competition, and inventory levels.</a:t>
            </a:r>
            <a:endParaRPr lang="en-US" sz="1512" dirty="0"/>
          </a:p>
        </p:txBody>
      </p:sp>
      <p:sp>
        <p:nvSpPr>
          <p:cNvPr id="9" name="Shape 6"/>
          <p:cNvSpPr/>
          <p:nvPr/>
        </p:nvSpPr>
        <p:spPr>
          <a:xfrm>
            <a:off x="2763322" y="3592830"/>
            <a:ext cx="9103757" cy="1473756"/>
          </a:xfrm>
          <a:prstGeom prst="rect">
            <a:avLst/>
          </a:prstGeom>
          <a:solidFill>
            <a:srgbClr val="000000">
              <a:alpha val="4000"/>
            </a:srgbClr>
          </a:solidFill>
          <a:ln/>
        </p:spPr>
        <p:txBody>
          <a:bodyPr/>
          <a:lstStyle/>
          <a:p>
            <a:endParaRPr lang="en-IN"/>
          </a:p>
        </p:txBody>
      </p:sp>
      <p:sp>
        <p:nvSpPr>
          <p:cNvPr id="10" name="Text 7"/>
          <p:cNvSpPr/>
          <p:nvPr/>
        </p:nvSpPr>
        <p:spPr>
          <a:xfrm>
            <a:off x="2955250" y="3715583"/>
            <a:ext cx="4164211" cy="307062"/>
          </a:xfrm>
          <a:prstGeom prst="rect">
            <a:avLst/>
          </a:prstGeom>
          <a:noFill/>
          <a:ln/>
        </p:spPr>
        <p:txBody>
          <a:bodyPr wrap="none" rtlCol="0" anchor="t"/>
          <a:lstStyle/>
          <a:p>
            <a:pPr marL="0" indent="0">
              <a:lnSpc>
                <a:spcPts val="2419"/>
              </a:lnSpc>
              <a:buNone/>
            </a:pPr>
            <a:r>
              <a:rPr lang="en-US" sz="1512" dirty="0">
                <a:solidFill>
                  <a:srgbClr val="DCD7E5"/>
                </a:solidFill>
                <a:latin typeface="Heebo" pitchFamily="34" charset="0"/>
                <a:ea typeface="Heebo" pitchFamily="34" charset="-122"/>
                <a:cs typeface="Heebo" pitchFamily="34" charset="-120"/>
              </a:rPr>
              <a:t>Retail Chains</a:t>
            </a:r>
            <a:endParaRPr lang="en-US" sz="1512" dirty="0"/>
          </a:p>
        </p:txBody>
      </p:sp>
      <p:sp>
        <p:nvSpPr>
          <p:cNvPr id="11" name="Text 8"/>
          <p:cNvSpPr/>
          <p:nvPr/>
        </p:nvSpPr>
        <p:spPr>
          <a:xfrm>
            <a:off x="7510939" y="3715583"/>
            <a:ext cx="4164211" cy="1228249"/>
          </a:xfrm>
          <a:prstGeom prst="rect">
            <a:avLst/>
          </a:prstGeom>
          <a:noFill/>
          <a:ln/>
        </p:spPr>
        <p:txBody>
          <a:bodyPr wrap="square" rtlCol="0" anchor="t"/>
          <a:lstStyle/>
          <a:p>
            <a:pPr marL="0" indent="0">
              <a:lnSpc>
                <a:spcPts val="2419"/>
              </a:lnSpc>
              <a:buNone/>
            </a:pPr>
            <a:r>
              <a:rPr lang="en-US" sz="1512" dirty="0">
                <a:solidFill>
                  <a:srgbClr val="DCD7E5"/>
                </a:solidFill>
                <a:latin typeface="Heebo" pitchFamily="34" charset="0"/>
                <a:ea typeface="Heebo" pitchFamily="34" charset="-122"/>
                <a:cs typeface="Heebo" pitchFamily="34" charset="-120"/>
              </a:rPr>
              <a:t>Utilizing price prediction algorithms to stay competitive in the mobile phone market, monitoring price fluctuations and consumer preferences.</a:t>
            </a:r>
            <a:endParaRPr lang="en-US" sz="1512" dirty="0"/>
          </a:p>
        </p:txBody>
      </p:sp>
      <p:sp>
        <p:nvSpPr>
          <p:cNvPr id="12" name="Shape 9"/>
          <p:cNvSpPr/>
          <p:nvPr/>
        </p:nvSpPr>
        <p:spPr>
          <a:xfrm>
            <a:off x="2763322" y="5066586"/>
            <a:ext cx="9103757" cy="1166693"/>
          </a:xfrm>
          <a:prstGeom prst="rect">
            <a:avLst/>
          </a:prstGeom>
          <a:solidFill>
            <a:srgbClr val="FFFFFF">
              <a:alpha val="4000"/>
            </a:srgbClr>
          </a:solidFill>
          <a:ln/>
        </p:spPr>
        <p:txBody>
          <a:bodyPr/>
          <a:lstStyle/>
          <a:p>
            <a:endParaRPr lang="en-IN"/>
          </a:p>
        </p:txBody>
      </p:sp>
      <p:sp>
        <p:nvSpPr>
          <p:cNvPr id="13" name="Text 10"/>
          <p:cNvSpPr/>
          <p:nvPr/>
        </p:nvSpPr>
        <p:spPr>
          <a:xfrm>
            <a:off x="2955250" y="5189339"/>
            <a:ext cx="4164211" cy="307062"/>
          </a:xfrm>
          <a:prstGeom prst="rect">
            <a:avLst/>
          </a:prstGeom>
          <a:noFill/>
          <a:ln/>
        </p:spPr>
        <p:txBody>
          <a:bodyPr wrap="none" rtlCol="0" anchor="t"/>
          <a:lstStyle/>
          <a:p>
            <a:pPr marL="0" indent="0">
              <a:lnSpc>
                <a:spcPts val="2419"/>
              </a:lnSpc>
              <a:buNone/>
            </a:pPr>
            <a:r>
              <a:rPr lang="en-US" sz="1512" dirty="0">
                <a:solidFill>
                  <a:srgbClr val="DCD7E5"/>
                </a:solidFill>
                <a:latin typeface="Heebo" pitchFamily="34" charset="0"/>
                <a:ea typeface="Heebo" pitchFamily="34" charset="-122"/>
                <a:cs typeface="Heebo" pitchFamily="34" charset="-120"/>
              </a:rPr>
              <a:t>Price Comparison Websites</a:t>
            </a:r>
            <a:endParaRPr lang="en-US" sz="1512" dirty="0"/>
          </a:p>
        </p:txBody>
      </p:sp>
      <p:sp>
        <p:nvSpPr>
          <p:cNvPr id="14" name="Text 11"/>
          <p:cNvSpPr/>
          <p:nvPr/>
        </p:nvSpPr>
        <p:spPr>
          <a:xfrm>
            <a:off x="7510939" y="5189339"/>
            <a:ext cx="4164211" cy="921187"/>
          </a:xfrm>
          <a:prstGeom prst="rect">
            <a:avLst/>
          </a:prstGeom>
          <a:noFill/>
          <a:ln/>
        </p:spPr>
        <p:txBody>
          <a:bodyPr wrap="square" rtlCol="0" anchor="t"/>
          <a:lstStyle/>
          <a:p>
            <a:pPr marL="0" indent="0">
              <a:lnSpc>
                <a:spcPts val="2419"/>
              </a:lnSpc>
              <a:buNone/>
            </a:pPr>
            <a:r>
              <a:rPr lang="en-US" sz="1512" dirty="0">
                <a:solidFill>
                  <a:srgbClr val="DCD7E5"/>
                </a:solidFill>
                <a:latin typeface="Heebo" pitchFamily="34" charset="0"/>
                <a:ea typeface="Heebo" pitchFamily="34" charset="-122"/>
                <a:cs typeface="Heebo" pitchFamily="34" charset="-120"/>
              </a:rPr>
              <a:t>Integrating price prediction models to provide users with real-time price estimates and help them find the best deals.</a:t>
            </a:r>
            <a:endParaRPr lang="en-US" sz="1512" dirty="0"/>
          </a:p>
        </p:txBody>
      </p:sp>
      <p:sp>
        <p:nvSpPr>
          <p:cNvPr id="15" name="Shape 12"/>
          <p:cNvSpPr/>
          <p:nvPr/>
        </p:nvSpPr>
        <p:spPr>
          <a:xfrm>
            <a:off x="2763322" y="6233279"/>
            <a:ext cx="9103757" cy="1473756"/>
          </a:xfrm>
          <a:prstGeom prst="rect">
            <a:avLst/>
          </a:prstGeom>
          <a:solidFill>
            <a:srgbClr val="000000">
              <a:alpha val="4000"/>
            </a:srgbClr>
          </a:solidFill>
          <a:ln/>
        </p:spPr>
        <p:txBody>
          <a:bodyPr/>
          <a:lstStyle/>
          <a:p>
            <a:endParaRPr lang="en-IN"/>
          </a:p>
        </p:txBody>
      </p:sp>
      <p:sp>
        <p:nvSpPr>
          <p:cNvPr id="16" name="Text 13"/>
          <p:cNvSpPr/>
          <p:nvPr/>
        </p:nvSpPr>
        <p:spPr>
          <a:xfrm>
            <a:off x="2955250" y="6356032"/>
            <a:ext cx="4164211" cy="307062"/>
          </a:xfrm>
          <a:prstGeom prst="rect">
            <a:avLst/>
          </a:prstGeom>
          <a:noFill/>
          <a:ln/>
        </p:spPr>
        <p:txBody>
          <a:bodyPr wrap="none" rtlCol="0" anchor="t"/>
          <a:lstStyle/>
          <a:p>
            <a:pPr marL="0" indent="0">
              <a:lnSpc>
                <a:spcPts val="2419"/>
              </a:lnSpc>
              <a:buNone/>
            </a:pPr>
            <a:r>
              <a:rPr lang="en-US" sz="1512" dirty="0">
                <a:solidFill>
                  <a:srgbClr val="DCD7E5"/>
                </a:solidFill>
                <a:latin typeface="Heebo" pitchFamily="34" charset="0"/>
                <a:ea typeface="Heebo" pitchFamily="34" charset="-122"/>
                <a:cs typeface="Heebo" pitchFamily="34" charset="-120"/>
              </a:rPr>
              <a:t>Mobile Manufacturers</a:t>
            </a:r>
            <a:endParaRPr lang="en-US" sz="1512" dirty="0"/>
          </a:p>
        </p:txBody>
      </p:sp>
      <p:sp>
        <p:nvSpPr>
          <p:cNvPr id="17" name="Text 14"/>
          <p:cNvSpPr/>
          <p:nvPr/>
        </p:nvSpPr>
        <p:spPr>
          <a:xfrm>
            <a:off x="7510939" y="6356032"/>
            <a:ext cx="4164211" cy="1228249"/>
          </a:xfrm>
          <a:prstGeom prst="rect">
            <a:avLst/>
          </a:prstGeom>
          <a:noFill/>
          <a:ln/>
        </p:spPr>
        <p:txBody>
          <a:bodyPr wrap="square" rtlCol="0" anchor="t"/>
          <a:lstStyle/>
          <a:p>
            <a:pPr marL="0" indent="0">
              <a:lnSpc>
                <a:spcPts val="2419"/>
              </a:lnSpc>
              <a:buNone/>
            </a:pPr>
            <a:r>
              <a:rPr lang="en-US" sz="1512" dirty="0">
                <a:solidFill>
                  <a:srgbClr val="DCD7E5"/>
                </a:solidFill>
                <a:latin typeface="Heebo" pitchFamily="34" charset="0"/>
                <a:ea typeface="Heebo" pitchFamily="34" charset="-122"/>
                <a:cs typeface="Heebo" pitchFamily="34" charset="-120"/>
              </a:rPr>
              <a:t>Employing price prediction models to optimize product pricing and positioning, analyzing factors like features, brand reputation, and consumer sentiment.</a:t>
            </a:r>
            <a:endParaRPr lang="en-US" sz="1512"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1267"/>
          </a:xfrm>
          <a:prstGeom prst="rect">
            <a:avLst/>
          </a:prstGeom>
          <a:solidFill>
            <a:srgbClr val="0D0A2C">
              <a:alpha val="75000"/>
            </a:srgbClr>
          </a:solidFill>
          <a:ln/>
        </p:spPr>
        <p:txBody>
          <a:bodyPr/>
          <a:lstStyle/>
          <a:p>
            <a:endParaRPr lang="en-IN"/>
          </a:p>
        </p:txBody>
      </p:sp>
      <p:sp>
        <p:nvSpPr>
          <p:cNvPr id="4" name="Text 1"/>
          <p:cNvSpPr/>
          <p:nvPr/>
        </p:nvSpPr>
        <p:spPr>
          <a:xfrm>
            <a:off x="2105501" y="603171"/>
            <a:ext cx="10419278" cy="1370886"/>
          </a:xfrm>
          <a:prstGeom prst="rect">
            <a:avLst/>
          </a:prstGeom>
          <a:noFill/>
          <a:ln/>
        </p:spPr>
        <p:txBody>
          <a:bodyPr wrap="square" rtlCol="0" anchor="t"/>
          <a:lstStyle/>
          <a:p>
            <a:pPr marL="0" indent="0">
              <a:lnSpc>
                <a:spcPts val="5398"/>
              </a:lnSpc>
              <a:buNone/>
            </a:pPr>
            <a:r>
              <a:rPr lang="en-US" sz="4318" dirty="0">
                <a:solidFill>
                  <a:srgbClr val="F2F0F4"/>
                </a:solidFill>
                <a:latin typeface="Montserrat" pitchFamily="34" charset="0"/>
                <a:ea typeface="Montserrat" pitchFamily="34" charset="-122"/>
                <a:cs typeface="Montserrat" pitchFamily="34" charset="-120"/>
              </a:rPr>
              <a:t>Continuous Improvement and Future Directions</a:t>
            </a:r>
            <a:endParaRPr lang="en-US" sz="4318" dirty="0"/>
          </a:p>
        </p:txBody>
      </p:sp>
      <p:pic>
        <p:nvPicPr>
          <p:cNvPr id="5" name="Image 1" descr="preencoded.png"/>
          <p:cNvPicPr>
            <a:picLocks noChangeAspect="1"/>
          </p:cNvPicPr>
          <p:nvPr/>
        </p:nvPicPr>
        <p:blipFill>
          <a:blip r:embed="rId4"/>
          <a:stretch>
            <a:fillRect/>
          </a:stretch>
        </p:blipFill>
        <p:spPr>
          <a:xfrm>
            <a:off x="2105501" y="2412683"/>
            <a:ext cx="3253740" cy="2010847"/>
          </a:xfrm>
          <a:prstGeom prst="rect">
            <a:avLst/>
          </a:prstGeom>
        </p:spPr>
      </p:pic>
      <p:sp>
        <p:nvSpPr>
          <p:cNvPr id="6" name="Text 2"/>
          <p:cNvSpPr/>
          <p:nvPr/>
        </p:nvSpPr>
        <p:spPr>
          <a:xfrm>
            <a:off x="2105501" y="4697611"/>
            <a:ext cx="3075265" cy="342662"/>
          </a:xfrm>
          <a:prstGeom prst="rect">
            <a:avLst/>
          </a:prstGeom>
          <a:noFill/>
          <a:ln/>
        </p:spPr>
        <p:txBody>
          <a:bodyPr wrap="none" rtlCol="0" anchor="t"/>
          <a:lstStyle/>
          <a:p>
            <a:pPr marL="0" indent="0" algn="l">
              <a:lnSpc>
                <a:spcPts val="2699"/>
              </a:lnSpc>
              <a:buNone/>
            </a:pPr>
            <a:r>
              <a:rPr lang="en-US" sz="2159" dirty="0">
                <a:solidFill>
                  <a:srgbClr val="DCD7E5"/>
                </a:solidFill>
                <a:latin typeface="Montserrat" pitchFamily="34" charset="0"/>
                <a:ea typeface="Montserrat" pitchFamily="34" charset="-122"/>
                <a:cs typeface="Montserrat" pitchFamily="34" charset="-120"/>
              </a:rPr>
              <a:t>Advancing Algorithms</a:t>
            </a:r>
            <a:endParaRPr lang="en-US" sz="2159" dirty="0"/>
          </a:p>
        </p:txBody>
      </p:sp>
      <p:sp>
        <p:nvSpPr>
          <p:cNvPr id="7" name="Text 3"/>
          <p:cNvSpPr/>
          <p:nvPr/>
        </p:nvSpPr>
        <p:spPr>
          <a:xfrm>
            <a:off x="2105501" y="5171837"/>
            <a:ext cx="3253740" cy="2105263"/>
          </a:xfrm>
          <a:prstGeom prst="rect">
            <a:avLst/>
          </a:prstGeom>
          <a:noFill/>
          <a:ln/>
        </p:spPr>
        <p:txBody>
          <a:bodyPr wrap="square" rtlCol="0" anchor="t"/>
          <a:lstStyle/>
          <a:p>
            <a:pPr marL="0" indent="0" algn="l">
              <a:lnSpc>
                <a:spcPts val="2764"/>
              </a:lnSpc>
              <a:buNone/>
            </a:pPr>
            <a:r>
              <a:rPr lang="en-US" sz="1727" dirty="0">
                <a:solidFill>
                  <a:srgbClr val="DCD7E5"/>
                </a:solidFill>
                <a:latin typeface="Heebo" pitchFamily="34" charset="0"/>
                <a:ea typeface="Heebo" pitchFamily="34" charset="-122"/>
                <a:cs typeface="Heebo" pitchFamily="34" charset="-120"/>
              </a:rPr>
              <a:t>Exploring the potential of emerging techniques, such as deep learning and hybrid models, to further enhance the accuracy and robustness of mobile price prediction systems.</a:t>
            </a:r>
            <a:endParaRPr lang="en-US" sz="1727" dirty="0"/>
          </a:p>
        </p:txBody>
      </p:sp>
      <p:pic>
        <p:nvPicPr>
          <p:cNvPr id="8" name="Image 2" descr="preencoded.png"/>
          <p:cNvPicPr>
            <a:picLocks noChangeAspect="1"/>
          </p:cNvPicPr>
          <p:nvPr/>
        </p:nvPicPr>
        <p:blipFill>
          <a:blip r:embed="rId5"/>
          <a:stretch>
            <a:fillRect/>
          </a:stretch>
        </p:blipFill>
        <p:spPr>
          <a:xfrm>
            <a:off x="5688211" y="2412683"/>
            <a:ext cx="3253740" cy="2010847"/>
          </a:xfrm>
          <a:prstGeom prst="rect">
            <a:avLst/>
          </a:prstGeom>
        </p:spPr>
      </p:pic>
      <p:sp>
        <p:nvSpPr>
          <p:cNvPr id="9" name="Text 4"/>
          <p:cNvSpPr/>
          <p:nvPr/>
        </p:nvSpPr>
        <p:spPr>
          <a:xfrm>
            <a:off x="5688211" y="4697611"/>
            <a:ext cx="2798207" cy="342662"/>
          </a:xfrm>
          <a:prstGeom prst="rect">
            <a:avLst/>
          </a:prstGeom>
          <a:noFill/>
          <a:ln/>
        </p:spPr>
        <p:txBody>
          <a:bodyPr wrap="none" rtlCol="0" anchor="t"/>
          <a:lstStyle/>
          <a:p>
            <a:pPr marL="0" indent="0" algn="l">
              <a:lnSpc>
                <a:spcPts val="2699"/>
              </a:lnSpc>
              <a:buNone/>
            </a:pPr>
            <a:r>
              <a:rPr lang="en-US" sz="2159" dirty="0">
                <a:solidFill>
                  <a:srgbClr val="DCD7E5"/>
                </a:solidFill>
                <a:latin typeface="Montserrat" pitchFamily="34" charset="0"/>
                <a:ea typeface="Montserrat" pitchFamily="34" charset="-122"/>
                <a:cs typeface="Montserrat" pitchFamily="34" charset="-120"/>
              </a:rPr>
              <a:t>Leveraging Big Data</a:t>
            </a:r>
            <a:endParaRPr lang="en-US" sz="2159" dirty="0"/>
          </a:p>
        </p:txBody>
      </p:sp>
      <p:sp>
        <p:nvSpPr>
          <p:cNvPr id="10" name="Text 5"/>
          <p:cNvSpPr/>
          <p:nvPr/>
        </p:nvSpPr>
        <p:spPr>
          <a:xfrm>
            <a:off x="5688211" y="5171837"/>
            <a:ext cx="3253740" cy="2456140"/>
          </a:xfrm>
          <a:prstGeom prst="rect">
            <a:avLst/>
          </a:prstGeom>
          <a:noFill/>
          <a:ln/>
        </p:spPr>
        <p:txBody>
          <a:bodyPr wrap="square" rtlCol="0" anchor="t"/>
          <a:lstStyle/>
          <a:p>
            <a:pPr marL="0" indent="0" algn="l">
              <a:lnSpc>
                <a:spcPts val="2764"/>
              </a:lnSpc>
              <a:buNone/>
            </a:pPr>
            <a:r>
              <a:rPr lang="en-US" sz="1727" dirty="0">
                <a:solidFill>
                  <a:srgbClr val="DCD7E5"/>
                </a:solidFill>
                <a:latin typeface="Heebo" pitchFamily="34" charset="0"/>
                <a:ea typeface="Heebo" pitchFamily="34" charset="-122"/>
                <a:cs typeface="Heebo" pitchFamily="34" charset="-120"/>
              </a:rPr>
              <a:t>Incorporating a broader range of data sources, including user sentiment, economic indicators, and market trends, to gain a more comprehensive understanding of the factors influencing mobile phone prices.</a:t>
            </a:r>
            <a:endParaRPr lang="en-US" sz="1727" dirty="0"/>
          </a:p>
        </p:txBody>
      </p:sp>
      <p:pic>
        <p:nvPicPr>
          <p:cNvPr id="11" name="Image 3" descr="preencoded.png"/>
          <p:cNvPicPr>
            <a:picLocks noChangeAspect="1"/>
          </p:cNvPicPr>
          <p:nvPr/>
        </p:nvPicPr>
        <p:blipFill>
          <a:blip r:embed="rId6"/>
          <a:stretch>
            <a:fillRect/>
          </a:stretch>
        </p:blipFill>
        <p:spPr>
          <a:xfrm>
            <a:off x="9270921" y="2412683"/>
            <a:ext cx="3253859" cy="2010966"/>
          </a:xfrm>
          <a:prstGeom prst="rect">
            <a:avLst/>
          </a:prstGeom>
        </p:spPr>
      </p:pic>
      <p:sp>
        <p:nvSpPr>
          <p:cNvPr id="12" name="Text 6"/>
          <p:cNvSpPr/>
          <p:nvPr/>
        </p:nvSpPr>
        <p:spPr>
          <a:xfrm>
            <a:off x="9270921" y="4697730"/>
            <a:ext cx="3202424" cy="342662"/>
          </a:xfrm>
          <a:prstGeom prst="rect">
            <a:avLst/>
          </a:prstGeom>
          <a:noFill/>
          <a:ln/>
        </p:spPr>
        <p:txBody>
          <a:bodyPr wrap="none" rtlCol="0" anchor="t"/>
          <a:lstStyle/>
          <a:p>
            <a:pPr marL="0" indent="0" algn="l">
              <a:lnSpc>
                <a:spcPts val="2699"/>
              </a:lnSpc>
              <a:buNone/>
            </a:pPr>
            <a:r>
              <a:rPr lang="en-US" sz="2159" dirty="0">
                <a:solidFill>
                  <a:srgbClr val="DCD7E5"/>
                </a:solidFill>
                <a:latin typeface="Montserrat" pitchFamily="34" charset="0"/>
                <a:ea typeface="Montserrat" pitchFamily="34" charset="-122"/>
                <a:cs typeface="Montserrat" pitchFamily="34" charset="-120"/>
              </a:rPr>
              <a:t>Fostering Collaboration</a:t>
            </a:r>
            <a:endParaRPr lang="en-US" sz="2159" dirty="0"/>
          </a:p>
        </p:txBody>
      </p:sp>
      <p:sp>
        <p:nvSpPr>
          <p:cNvPr id="13" name="Text 7"/>
          <p:cNvSpPr/>
          <p:nvPr/>
        </p:nvSpPr>
        <p:spPr>
          <a:xfrm>
            <a:off x="9270921" y="5171956"/>
            <a:ext cx="3253859" cy="2456140"/>
          </a:xfrm>
          <a:prstGeom prst="rect">
            <a:avLst/>
          </a:prstGeom>
          <a:noFill/>
          <a:ln/>
        </p:spPr>
        <p:txBody>
          <a:bodyPr wrap="square" rtlCol="0" anchor="t"/>
          <a:lstStyle/>
          <a:p>
            <a:pPr marL="0" indent="0" algn="l">
              <a:lnSpc>
                <a:spcPts val="2764"/>
              </a:lnSpc>
              <a:buNone/>
            </a:pPr>
            <a:r>
              <a:rPr lang="en-US" sz="1727" dirty="0">
                <a:solidFill>
                  <a:srgbClr val="DCD7E5"/>
                </a:solidFill>
                <a:latin typeface="Heebo" pitchFamily="34" charset="0"/>
                <a:ea typeface="Heebo" pitchFamily="34" charset="-122"/>
                <a:cs typeface="Heebo" pitchFamily="34" charset="-120"/>
              </a:rPr>
              <a:t>Encouraging interdisciplinary collaboration between data scientists, industry experts, and mobile phone manufacturers to develop tailored solutions that address specific market needs and consumer preferences.</a:t>
            </a:r>
            <a:endParaRPr lang="en-US" sz="172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75000"/>
            </a:srgbClr>
          </a:solidFill>
          <a:ln/>
        </p:spPr>
        <p:txBody>
          <a:bodyPr/>
          <a:lstStyle/>
          <a:p>
            <a:endParaRPr lang="en-IN"/>
          </a:p>
        </p:txBody>
      </p:sp>
      <p:pic>
        <p:nvPicPr>
          <p:cNvPr id="4" name="Image 1" descr="preencoded.png"/>
          <p:cNvPicPr>
            <a:picLocks noChangeAspect="1"/>
          </p:cNvPicPr>
          <p:nvPr/>
        </p:nvPicPr>
        <p:blipFill>
          <a:blip r:embed="rId4"/>
          <a:stretch>
            <a:fillRect/>
          </a:stretch>
        </p:blipFill>
        <p:spPr>
          <a:xfrm>
            <a:off x="10980420" y="0"/>
            <a:ext cx="3657600" cy="8229600"/>
          </a:xfrm>
          <a:prstGeom prst="rect">
            <a:avLst/>
          </a:prstGeom>
        </p:spPr>
      </p:pic>
      <p:sp>
        <p:nvSpPr>
          <p:cNvPr id="5" name="Text 1"/>
          <p:cNvSpPr/>
          <p:nvPr/>
        </p:nvSpPr>
        <p:spPr>
          <a:xfrm>
            <a:off x="803196" y="700564"/>
            <a:ext cx="9366290" cy="1232297"/>
          </a:xfrm>
          <a:prstGeom prst="rect">
            <a:avLst/>
          </a:prstGeom>
          <a:noFill/>
          <a:ln/>
        </p:spPr>
        <p:txBody>
          <a:bodyPr wrap="square" rtlCol="0" anchor="t"/>
          <a:lstStyle/>
          <a:p>
            <a:pPr marL="0" indent="0">
              <a:lnSpc>
                <a:spcPts val="4852"/>
              </a:lnSpc>
              <a:buNone/>
            </a:pPr>
            <a:r>
              <a:rPr lang="en-US" sz="3882" dirty="0">
                <a:solidFill>
                  <a:srgbClr val="F2F0F4"/>
                </a:solidFill>
                <a:latin typeface="Montserrat" pitchFamily="34" charset="0"/>
                <a:ea typeface="Montserrat" pitchFamily="34" charset="-122"/>
                <a:cs typeface="Montserrat" pitchFamily="34" charset="-120"/>
              </a:rPr>
              <a:t>Conclusion: Unlocking the Future of Mobile Technology</a:t>
            </a:r>
            <a:endParaRPr lang="en-US" sz="3882" dirty="0"/>
          </a:p>
        </p:txBody>
      </p:sp>
      <p:pic>
        <p:nvPicPr>
          <p:cNvPr id="6" name="Image 2" descr="preencoded.png"/>
          <p:cNvPicPr>
            <a:picLocks noChangeAspect="1"/>
          </p:cNvPicPr>
          <p:nvPr/>
        </p:nvPicPr>
        <p:blipFill>
          <a:blip r:embed="rId5"/>
          <a:stretch>
            <a:fillRect/>
          </a:stretch>
        </p:blipFill>
        <p:spPr>
          <a:xfrm>
            <a:off x="803196" y="2228612"/>
            <a:ext cx="985838" cy="1766768"/>
          </a:xfrm>
          <a:prstGeom prst="rect">
            <a:avLst/>
          </a:prstGeom>
        </p:spPr>
      </p:pic>
      <p:sp>
        <p:nvSpPr>
          <p:cNvPr id="7" name="Text 2"/>
          <p:cNvSpPr/>
          <p:nvPr/>
        </p:nvSpPr>
        <p:spPr>
          <a:xfrm>
            <a:off x="2084784" y="2425779"/>
            <a:ext cx="4402455" cy="308015"/>
          </a:xfrm>
          <a:prstGeom prst="rect">
            <a:avLst/>
          </a:prstGeom>
          <a:noFill/>
          <a:ln/>
        </p:spPr>
        <p:txBody>
          <a:bodyPr wrap="none" rtlCol="0" anchor="t"/>
          <a:lstStyle/>
          <a:p>
            <a:pPr marL="0" indent="0" algn="l">
              <a:lnSpc>
                <a:spcPts val="2426"/>
              </a:lnSpc>
              <a:buNone/>
            </a:pPr>
            <a:r>
              <a:rPr lang="en-US" sz="1941" dirty="0">
                <a:solidFill>
                  <a:srgbClr val="DCD7E5"/>
                </a:solidFill>
                <a:latin typeface="Montserrat" pitchFamily="34" charset="0"/>
                <a:ea typeface="Montserrat" pitchFamily="34" charset="-122"/>
                <a:cs typeface="Montserrat" pitchFamily="34" charset="-120"/>
              </a:rPr>
              <a:t>Predictive Modeling Advancements</a:t>
            </a:r>
            <a:endParaRPr lang="en-US" sz="1941" dirty="0"/>
          </a:p>
        </p:txBody>
      </p:sp>
      <p:sp>
        <p:nvSpPr>
          <p:cNvPr id="8" name="Text 3"/>
          <p:cNvSpPr/>
          <p:nvPr/>
        </p:nvSpPr>
        <p:spPr>
          <a:xfrm>
            <a:off x="2084784" y="2852023"/>
            <a:ext cx="8084701" cy="946190"/>
          </a:xfrm>
          <a:prstGeom prst="rect">
            <a:avLst/>
          </a:prstGeom>
          <a:noFill/>
          <a:ln/>
        </p:spPr>
        <p:txBody>
          <a:bodyPr wrap="square" rtlCol="0" anchor="t"/>
          <a:lstStyle/>
          <a:p>
            <a:pPr marL="0" indent="0" algn="l">
              <a:lnSpc>
                <a:spcPts val="2484"/>
              </a:lnSpc>
              <a:buNone/>
            </a:pPr>
            <a:r>
              <a:rPr lang="en-US" sz="1553" dirty="0">
                <a:solidFill>
                  <a:srgbClr val="DCD7E5"/>
                </a:solidFill>
                <a:latin typeface="Heebo" pitchFamily="34" charset="0"/>
                <a:ea typeface="Heebo" pitchFamily="34" charset="-122"/>
                <a:cs typeface="Heebo" pitchFamily="34" charset="-120"/>
              </a:rPr>
              <a:t>The continued evolution and refinement of predictive modeling techniques for mobile price forecasting will be crucial in shaping the future of the mobile technology industry, driving innovation and enhancing consumer experiences.</a:t>
            </a:r>
            <a:endParaRPr lang="en-US" sz="1553" dirty="0"/>
          </a:p>
        </p:txBody>
      </p:sp>
      <p:pic>
        <p:nvPicPr>
          <p:cNvPr id="9" name="Image 3" descr="preencoded.png"/>
          <p:cNvPicPr>
            <a:picLocks noChangeAspect="1"/>
          </p:cNvPicPr>
          <p:nvPr/>
        </p:nvPicPr>
        <p:blipFill>
          <a:blip r:embed="rId6"/>
          <a:stretch>
            <a:fillRect/>
          </a:stretch>
        </p:blipFill>
        <p:spPr>
          <a:xfrm>
            <a:off x="803196" y="3995380"/>
            <a:ext cx="985838" cy="1766768"/>
          </a:xfrm>
          <a:prstGeom prst="rect">
            <a:avLst/>
          </a:prstGeom>
        </p:spPr>
      </p:pic>
      <p:sp>
        <p:nvSpPr>
          <p:cNvPr id="10" name="Text 4"/>
          <p:cNvSpPr/>
          <p:nvPr/>
        </p:nvSpPr>
        <p:spPr>
          <a:xfrm>
            <a:off x="2084784" y="4192548"/>
            <a:ext cx="3302198" cy="308015"/>
          </a:xfrm>
          <a:prstGeom prst="rect">
            <a:avLst/>
          </a:prstGeom>
          <a:noFill/>
          <a:ln/>
        </p:spPr>
        <p:txBody>
          <a:bodyPr wrap="none" rtlCol="0" anchor="t"/>
          <a:lstStyle/>
          <a:p>
            <a:pPr marL="0" indent="0" algn="l">
              <a:lnSpc>
                <a:spcPts val="2426"/>
              </a:lnSpc>
              <a:buNone/>
            </a:pPr>
            <a:r>
              <a:rPr lang="en-US" sz="1941" dirty="0">
                <a:solidFill>
                  <a:srgbClr val="DCD7E5"/>
                </a:solidFill>
                <a:latin typeface="Montserrat" pitchFamily="34" charset="0"/>
                <a:ea typeface="Montserrat" pitchFamily="34" charset="-122"/>
                <a:cs typeface="Montserrat" pitchFamily="34" charset="-120"/>
              </a:rPr>
              <a:t>Informed Decision-Making</a:t>
            </a:r>
            <a:endParaRPr lang="en-US" sz="1941" dirty="0"/>
          </a:p>
        </p:txBody>
      </p:sp>
      <p:sp>
        <p:nvSpPr>
          <p:cNvPr id="11" name="Text 5"/>
          <p:cNvSpPr/>
          <p:nvPr/>
        </p:nvSpPr>
        <p:spPr>
          <a:xfrm>
            <a:off x="2084784" y="4618792"/>
            <a:ext cx="8084701" cy="946190"/>
          </a:xfrm>
          <a:prstGeom prst="rect">
            <a:avLst/>
          </a:prstGeom>
          <a:noFill/>
          <a:ln/>
        </p:spPr>
        <p:txBody>
          <a:bodyPr wrap="square" rtlCol="0" anchor="t"/>
          <a:lstStyle/>
          <a:p>
            <a:pPr marL="0" indent="0" algn="l">
              <a:lnSpc>
                <a:spcPts val="2484"/>
              </a:lnSpc>
              <a:buNone/>
            </a:pPr>
            <a:r>
              <a:rPr lang="en-US" sz="1553" dirty="0">
                <a:solidFill>
                  <a:srgbClr val="DCD7E5"/>
                </a:solidFill>
                <a:latin typeface="Heebo" pitchFamily="34" charset="0"/>
                <a:ea typeface="Heebo" pitchFamily="34" charset="-122"/>
                <a:cs typeface="Heebo" pitchFamily="34" charset="-120"/>
              </a:rPr>
              <a:t>By leveraging the insights and capabilities of mobile price prediction models, industry stakeholders can make more informed decisions, optimize pricing strategies, and better cater to the evolving needs and preferences of mobile consumers.</a:t>
            </a:r>
            <a:endParaRPr lang="en-US" sz="1553" dirty="0"/>
          </a:p>
        </p:txBody>
      </p:sp>
      <p:pic>
        <p:nvPicPr>
          <p:cNvPr id="12" name="Image 4" descr="preencoded.png"/>
          <p:cNvPicPr>
            <a:picLocks noChangeAspect="1"/>
          </p:cNvPicPr>
          <p:nvPr/>
        </p:nvPicPr>
        <p:blipFill>
          <a:blip r:embed="rId7"/>
          <a:stretch>
            <a:fillRect/>
          </a:stretch>
        </p:blipFill>
        <p:spPr>
          <a:xfrm>
            <a:off x="803196" y="5762149"/>
            <a:ext cx="985838" cy="1766768"/>
          </a:xfrm>
          <a:prstGeom prst="rect">
            <a:avLst/>
          </a:prstGeom>
        </p:spPr>
      </p:pic>
      <p:sp>
        <p:nvSpPr>
          <p:cNvPr id="13" name="Text 6"/>
          <p:cNvSpPr/>
          <p:nvPr/>
        </p:nvSpPr>
        <p:spPr>
          <a:xfrm>
            <a:off x="2084784" y="5959316"/>
            <a:ext cx="3396853" cy="308015"/>
          </a:xfrm>
          <a:prstGeom prst="rect">
            <a:avLst/>
          </a:prstGeom>
          <a:noFill/>
          <a:ln/>
        </p:spPr>
        <p:txBody>
          <a:bodyPr wrap="none" rtlCol="0" anchor="t"/>
          <a:lstStyle/>
          <a:p>
            <a:pPr marL="0" indent="0" algn="l">
              <a:lnSpc>
                <a:spcPts val="2426"/>
              </a:lnSpc>
              <a:buNone/>
            </a:pPr>
            <a:r>
              <a:rPr lang="en-US" sz="1941" dirty="0">
                <a:solidFill>
                  <a:srgbClr val="DCD7E5"/>
                </a:solidFill>
                <a:latin typeface="Montserrat" pitchFamily="34" charset="0"/>
                <a:ea typeface="Montserrat" pitchFamily="34" charset="-122"/>
                <a:cs typeface="Montserrat" pitchFamily="34" charset="-120"/>
              </a:rPr>
              <a:t>Unlocking New Possibilities</a:t>
            </a:r>
            <a:endParaRPr lang="en-US" sz="1941" dirty="0"/>
          </a:p>
        </p:txBody>
      </p:sp>
      <p:sp>
        <p:nvSpPr>
          <p:cNvPr id="14" name="Text 7"/>
          <p:cNvSpPr/>
          <p:nvPr/>
        </p:nvSpPr>
        <p:spPr>
          <a:xfrm>
            <a:off x="2084784" y="6385560"/>
            <a:ext cx="8084701" cy="946190"/>
          </a:xfrm>
          <a:prstGeom prst="rect">
            <a:avLst/>
          </a:prstGeom>
          <a:noFill/>
          <a:ln/>
        </p:spPr>
        <p:txBody>
          <a:bodyPr wrap="square" rtlCol="0" anchor="t"/>
          <a:lstStyle/>
          <a:p>
            <a:pPr marL="0" indent="0" algn="l">
              <a:lnSpc>
                <a:spcPts val="2484"/>
              </a:lnSpc>
              <a:buNone/>
            </a:pPr>
            <a:r>
              <a:rPr lang="en-US" sz="1553" dirty="0">
                <a:solidFill>
                  <a:srgbClr val="DCD7E5"/>
                </a:solidFill>
                <a:latin typeface="Heebo" pitchFamily="34" charset="0"/>
                <a:ea typeface="Heebo" pitchFamily="34" charset="-122"/>
                <a:cs typeface="Heebo" pitchFamily="34" charset="-120"/>
              </a:rPr>
              <a:t>As the field of mobile price prediction continues to advance, it will unlock new possibilities for the mobile technology industry, fostering greater efficiency, competitiveness, and ultimately, enhancing the overall user experience.</a:t>
            </a:r>
            <a:endParaRPr lang="en-US" sz="1553"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1200</Words>
  <Application>Microsoft Office PowerPoint</Application>
  <PresentationFormat>Custom</PresentationFormat>
  <Paragraphs>87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Heebo</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Harsha Vardhan Tamarana</cp:lastModifiedBy>
  <cp:revision>2</cp:revision>
  <dcterms:created xsi:type="dcterms:W3CDTF">2024-05-23T07:56:00Z</dcterms:created>
  <dcterms:modified xsi:type="dcterms:W3CDTF">2024-05-23T07:57:55Z</dcterms:modified>
</cp:coreProperties>
</file>